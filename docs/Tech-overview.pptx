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64" r:id="rId8"/>
    <p:sldId id="265" r:id="rId9"/>
    <p:sldId id="258" r:id="rId10"/>
    <p:sldId id="263" r:id="rId11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57"/>
    <p:restoredTop sz="96308"/>
  </p:normalViewPr>
  <p:slideViewPr>
    <p:cSldViewPr snapToGrid="0" snapToObjects="1">
      <p:cViewPr varScale="1">
        <p:scale>
          <a:sx n="153" d="100"/>
          <a:sy n="153" d="100"/>
        </p:scale>
        <p:origin x="2944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2025-09-10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SSH-folder-documentation.xlsx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416902" y="953256"/>
            <a:ext cx="5257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(built-in diff/merge tool)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416902" y="1472403"/>
            <a:ext cx="5396401" cy="58785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The sigalling file “pragma-merge-running” is controlling the flow between git and pragma-merge (via pragma-git)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pragma-merge-running</a:t>
            </a:r>
            <a:r>
              <a:rPr lang="en-US" sz="800" noProof="1"/>
              <a:t> # Flag to start pragma-merge.js. Polled by script ‘pragma-merge’ to know when finished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</a:t>
            </a:r>
            <a:r>
              <a:rPr lang="en-US" sz="800" b="1" noProof="1">
                <a:solidFill>
                  <a:schemeClr val="accent1"/>
                </a:solidFill>
              </a:rPr>
              <a:t>‘pragma-merge-running’</a:t>
            </a:r>
            <a:endParaRPr lang="en-US" sz="800" b="1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</a:t>
            </a:r>
            <a:r>
              <a:rPr lang="en-US" sz="800" b="1" noProof="1"/>
              <a:t>’pragma-merge-running</a:t>
            </a:r>
            <a:r>
              <a:rPr lang="en-US" sz="800" noProof="1"/>
              <a:t>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</a:t>
            </a:r>
            <a:r>
              <a:rPr lang="en-US" sz="800" b="1" noProof="1"/>
              <a:t>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416902" y="7408417"/>
            <a:ext cx="539640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357319" y="953255"/>
            <a:ext cx="5727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askpass (integrated password dialog for git)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367567" y="1472403"/>
            <a:ext cx="5396401" cy="489364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password), </a:t>
            </a:r>
            <a:br>
              <a:rPr lang="en-US" sz="800" noProof="1"/>
            </a:br>
            <a:r>
              <a:rPr lang="en-US" sz="800" noProof="1"/>
              <a:t>askpasslog.txt, </a:t>
            </a:r>
            <a:br>
              <a:rPr lang="en-US" sz="800" noProof="1"/>
            </a:br>
            <a:r>
              <a:rPr lang="en-US" sz="800" noProof="1"/>
              <a:t>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267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helper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357319" y="6423533"/>
            <a:ext cx="5396401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8DAA-53D0-1105-C6F2-C801F08D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4151DEA-44C4-2776-6854-868F7FB7712C}"/>
              </a:ext>
            </a:extLst>
          </p:cNvPr>
          <p:cNvSpPr txBox="1"/>
          <p:nvPr/>
        </p:nvSpPr>
        <p:spPr>
          <a:xfrm>
            <a:off x="416902" y="122259"/>
            <a:ext cx="799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providers (github, gitlab,…)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ADE3883B-4E67-CF9D-9EEC-2A26C5A55CD6}"/>
              </a:ext>
            </a:extLst>
          </p:cNvPr>
          <p:cNvSpPr txBox="1"/>
          <p:nvPr/>
        </p:nvSpPr>
        <p:spPr>
          <a:xfrm>
            <a:off x="498478" y="1497415"/>
            <a:ext cx="3274288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Classes for different providers</a:t>
            </a:r>
            <a:r>
              <a:rPr lang="en-US" sz="800" noProof="1"/>
              <a:t>--  in folder apis_github_and_others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Main class</a:t>
            </a:r>
            <a:r>
              <a:rPr lang="en-US" sz="800" noProof="1"/>
              <a:t> general_git_rest_api.js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Common constructor sets :</a:t>
            </a:r>
            <a:br>
              <a:rPr lang="en-US" sz="800" noProof="1"/>
            </a:br>
            <a:r>
              <a:rPr lang="en-US" sz="800" noProof="1"/>
              <a:t> giturl, username, TOKEN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Implements fetch function :</a:t>
            </a:r>
            <a:br>
              <a:rPr lang="en-US" sz="800" noProof="1"/>
            </a:br>
            <a:r>
              <a:rPr lang="en-US" sz="800" noProof="1"/>
              <a:t> fetchWithApi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Provider-specific i</a:t>
            </a:r>
            <a:r>
              <a:rPr lang="en-US" sz="800" noProof="1"/>
              <a:t>mplemented by inheriting from general_git_rest_api.js.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Adding a new provider means to  implement the following methods</a:t>
            </a:r>
            <a:r>
              <a:rPr lang="en-US" sz="800" noProof="1"/>
              <a:t>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Constructor – inherits from main class, but also set this.api-url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initialize – calls api and get json response from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createRepo – creates a repository through api call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getValue – gets a number of values from json response in a standardized way (same for all providers)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getValue</a:t>
            </a:r>
            <a:r>
              <a:rPr lang="en-US" sz="800" noProof="1"/>
              <a:t> can be called with these parameters  (may be updated)</a:t>
            </a:r>
          </a:p>
          <a:p>
            <a:pPr marL="152550" lvl="1"/>
            <a:r>
              <a:rPr lang="en-US" sz="800" b="1" noProof="1"/>
              <a:t>   The following can be called without initialization (fast)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'git-username’ – username needed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'icon’ – path to 16x16 pixel icon.  Should return path to a  darkmode and lightmode icon (you can return same path, if it is a color icon that works for both). See gitlab.com.js implementation</a:t>
            </a:r>
          </a:p>
          <a:p>
            <a:pPr marL="152550" lvl="1"/>
            <a:r>
              <a:rPr lang="en-US" sz="800" b="1" noProof="1"/>
              <a:t>   The following requires a call to initialize() before accessible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'web-url’ – url to providers web page for this repo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api-url’ –url to call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'api-status’ – status when calling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'fork-parent’ – if a forked repo, this is the url to original repo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'is-private-repo’ -- tells if private / public repo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Icons and supporting material can be placed in the same folder: </a:t>
            </a:r>
            <a:r>
              <a:rPr lang="en-US" sz="800" noProof="1"/>
              <a:t>apis_github_and_others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943D8880-E278-C35C-CEEF-0D60AB679EF5}"/>
              </a:ext>
            </a:extLst>
          </p:cNvPr>
          <p:cNvSpPr txBox="1"/>
          <p:nvPr/>
        </p:nvSpPr>
        <p:spPr>
          <a:xfrm>
            <a:off x="336553" y="953256"/>
            <a:ext cx="303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API functions</a:t>
            </a:r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2987841D-179A-486D-5E40-0A0422DA3632}"/>
              </a:ext>
            </a:extLst>
          </p:cNvPr>
          <p:cNvSpPr txBox="1"/>
          <p:nvPr/>
        </p:nvSpPr>
        <p:spPr>
          <a:xfrm>
            <a:off x="4270378" y="939343"/>
            <a:ext cx="272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GUI wizard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0BF97886-D135-15CC-61EF-28B42C9BDBDF}"/>
              </a:ext>
            </a:extLst>
          </p:cNvPr>
          <p:cNvSpPr txBox="1"/>
          <p:nvPr/>
        </p:nvSpPr>
        <p:spPr>
          <a:xfrm>
            <a:off x="4346578" y="1497414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Common html -- </a:t>
            </a:r>
            <a:r>
              <a:rPr lang="en-US" sz="800" noProof="1"/>
              <a:t>Create_remote_repository.html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Text made for Github: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One js-file -- </a:t>
            </a:r>
            <a:r>
              <a:rPr lang="en-US" sz="800" noProof="1"/>
              <a:t>create_remote_repository.js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Modifies: all text “Github”  to correct provider in html above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Switch statement setting provider-specific labels for inputs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in git credentials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Mechanism for guessing TOKEN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Caches credentials for all repos, and finds the unique usernames for current provider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user-name matches known credential, the TOKEN/password field is updated</a:t>
            </a:r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0725C2E0-B09A-BD89-F02E-BED7F1342107}"/>
              </a:ext>
            </a:extLst>
          </p:cNvPr>
          <p:cNvSpPr txBox="1"/>
          <p:nvPr/>
        </p:nvSpPr>
        <p:spPr>
          <a:xfrm>
            <a:off x="4416875" y="4478739"/>
            <a:ext cx="327428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Color icons </a:t>
            </a:r>
            <a:r>
              <a:rPr lang="en-US" sz="800" noProof="1"/>
              <a:t>must be 16x16, RGB to work in menues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Seems that bigger matrix </a:t>
            </a:r>
            <a:r>
              <a:rPr lang="en-US" sz="800" noProof="1"/>
              <a:t>works for b/w github icon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These icons are slightly fuzzy when viewed in settings.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ruta 5">
            <a:extLst>
              <a:ext uri="{FF2B5EF4-FFF2-40B4-BE49-F238E27FC236}">
                <a16:creationId xmlns:a16="http://schemas.microsoft.com/office/drawing/2014/main" id="{2DFA1971-7891-05E5-E387-70DA5165528F}"/>
              </a:ext>
            </a:extLst>
          </p:cNvPr>
          <p:cNvSpPr txBox="1"/>
          <p:nvPr/>
        </p:nvSpPr>
        <p:spPr>
          <a:xfrm>
            <a:off x="4270378" y="3749731"/>
            <a:ext cx="846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Icons</a:t>
            </a:r>
          </a:p>
        </p:txBody>
      </p:sp>
    </p:spTree>
    <p:extLst>
      <p:ext uri="{BB962C8B-B14F-4D97-AF65-F5344CB8AC3E}">
        <p14:creationId xmlns:p14="http://schemas.microsoft.com/office/powerpoint/2010/main" val="1071964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48A4-4062-70FA-687B-0BDD7B49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21">
            <a:extLst>
              <a:ext uri="{FF2B5EF4-FFF2-40B4-BE49-F238E27FC236}">
                <a16:creationId xmlns:a16="http://schemas.microsoft.com/office/drawing/2014/main" id="{4E4F468A-0631-842A-FCA7-FC0E33825BE9}"/>
              </a:ext>
            </a:extLst>
          </p:cNvPr>
          <p:cNvSpPr/>
          <p:nvPr/>
        </p:nvSpPr>
        <p:spPr>
          <a:xfrm>
            <a:off x="451706" y="3328078"/>
            <a:ext cx="11226129" cy="6066014"/>
          </a:xfrm>
          <a:prstGeom prst="rect">
            <a:avLst/>
          </a:prstGeom>
          <a:solidFill>
            <a:schemeClr val="bg2">
              <a:lumMod val="90000"/>
              <a:alpha val="33000"/>
            </a:schemeClr>
          </a:solidFill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C0C0C0"/>
              </a:highlight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A41965A-DA7A-7196-60F2-57BE4824CBCE}"/>
              </a:ext>
            </a:extLst>
          </p:cNvPr>
          <p:cNvSpPr/>
          <p:nvPr/>
        </p:nvSpPr>
        <p:spPr>
          <a:xfrm>
            <a:off x="5979753" y="3784842"/>
            <a:ext cx="5608633" cy="486865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83423371-BCFF-813B-8CF5-793F83A1739A}"/>
              </a:ext>
            </a:extLst>
          </p:cNvPr>
          <p:cNvSpPr txBox="1"/>
          <p:nvPr/>
        </p:nvSpPr>
        <p:spPr>
          <a:xfrm>
            <a:off x="416902" y="122259"/>
            <a:ext cx="90384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(commands on server)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0BB3AB89-4809-925B-71E3-11418FACC157}"/>
              </a:ext>
            </a:extLst>
          </p:cNvPr>
          <p:cNvSpPr txBox="1"/>
          <p:nvPr/>
        </p:nvSpPr>
        <p:spPr>
          <a:xfrm>
            <a:off x="498478" y="1497415"/>
            <a:ext cx="3274288" cy="1200329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Running git commands transparently on a server is implemented this way 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r>
              <a:rPr lang="en-US" sz="800" noProof="1"/>
              <a:t>-  is a bash script which runs git-commands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simpleGit uses ssh-git-client as a new binary instead of builtin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is the ssh URL to the repo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Other arguments are same as for local git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 URL example format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ssh://jan@linus/usr/local/MATLAB/imlook4d/imlook4d_DEVELOP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4CC239A-FBA7-870A-44C9-D36BD394F293}"/>
              </a:ext>
            </a:extLst>
          </p:cNvPr>
          <p:cNvSpPr txBox="1"/>
          <p:nvPr/>
        </p:nvSpPr>
        <p:spPr>
          <a:xfrm>
            <a:off x="336553" y="953256"/>
            <a:ext cx="2351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Run git on server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4F8EF986-C685-6786-DD73-97E044DC219F}"/>
              </a:ext>
            </a:extLst>
          </p:cNvPr>
          <p:cNvSpPr txBox="1"/>
          <p:nvPr/>
        </p:nvSpPr>
        <p:spPr>
          <a:xfrm>
            <a:off x="559609" y="3786855"/>
            <a:ext cx="5019594" cy="550920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Interacting with pragma-merge with git on a server is a lot more complicated, since the difftool has to send multiple files back to client’s pragma-merge.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pragma-merge </a:t>
            </a:r>
            <a:r>
              <a:rPr lang="en-US" sz="800" noProof="1"/>
              <a:t>-  works differently on the server: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through git diff and merge commands, but over </a:t>
            </a:r>
            <a:br>
              <a:rPr lang="en-US" sz="800" noProof="1"/>
            </a:br>
            <a:r>
              <a:rPr lang="en-US" sz="800" noProof="1"/>
              <a:t>git-client-ssh instead of local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SIGNALING FILE: $TMP/pragma-merge-running-ssh</a:t>
            </a:r>
            <a:br>
              <a:rPr lang="en-US" sz="800" noProof="1"/>
            </a:br>
            <a:r>
              <a:rPr lang="en-US" sz="800" noProof="1"/>
              <a:t>OUTPUT FILE: $FILE_LIST_ON_SSH 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Config file must contain row (note argument 5 = ‘ssh’):</a:t>
            </a:r>
            <a:br>
              <a:rPr lang="en-US" sz="800" noProof="1"/>
            </a:br>
            <a:r>
              <a:rPr lang="en-US" sz="800" noProof="1"/>
              <a:t>cmd = /home/jan/Desktop/Pragma-git-dev/pragma-merge $BASE $LOCAL $REMOTE $MERGED 'ssh'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Identifies that it is an ‘ssh’ command by argument 5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signaling file $TMP/pragma-merge-running-ssh</a:t>
            </a:r>
            <a:br>
              <a:rPr lang="en-US" sz="800" noProof="1"/>
            </a:br>
            <a:r>
              <a:rPr lang="en-US" sz="800" noProof="1"/>
              <a:t>(instead of $TMP/pragma-merge-running)</a:t>
            </a:r>
            <a:br>
              <a:rPr lang="en-US" sz="800" noProof="1"/>
            </a:br>
            <a:r>
              <a:rPr lang="en-US" sz="800" noProof="1"/>
              <a:t>NOTE: stays open pragma-merge on client closes TODO!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:</a:t>
            </a:r>
            <a:br>
              <a:rPr lang="en-US" sz="800" noProof="1"/>
            </a:br>
            <a:r>
              <a:rPr lang="en-US" sz="800" noProof="1"/>
              <a:t>$FILE_LIST_ON_SSH – file listing 4 files given by git difftool command : $BASE $LOCAL $REMOTE $MERGED</a:t>
            </a:r>
            <a:br>
              <a:rPr lang="en-US" sz="800" noProof="1"/>
            </a:br>
            <a:r>
              <a:rPr lang="en-US" sz="800" noProof="1"/>
              <a:t>(FILE_LIST_ON_SSH  = /tmp/test.txt)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 : ssh-git-client (when difftool or mergetool) </a:t>
            </a:r>
            <a:r>
              <a:rPr lang="en-US" sz="800" noProof="1"/>
              <a:t>starts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difftool or mergetool command, </a:t>
            </a:r>
            <a:br>
              <a:rPr lang="en-US" sz="800" noProof="1"/>
            </a:br>
            <a:r>
              <a:rPr lang="en-US" sz="800" noProof="1"/>
              <a:t>start “delayed-start-pragma-merge” in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 the git diff/merge command on server</a:t>
            </a:r>
            <a:br>
              <a:rPr lang="en-US" sz="800" noProof="1"/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 : delayed-start-pragma-merge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a few second for ssh-git-client to run on server</a:t>
            </a:r>
            <a:br>
              <a:rPr lang="en-US" sz="800" noProof="1"/>
            </a:br>
            <a:r>
              <a:rPr lang="en-US" sz="800" noProof="1"/>
              <a:t>TODO: instead, check if $FILE_LIST_ON_SSH has been created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Start ssh-get-merge-files, to pick up files from server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CLIENT; ssh-get-merge-files – </a:t>
            </a:r>
            <a:r>
              <a:rPr lang="en-US" sz="800" noProof="1"/>
              <a:t>picks up server files to client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OUTPUT FILES: </a:t>
            </a:r>
            <a:br>
              <a:rPr lang="en-US" sz="800" noProof="1"/>
            </a:br>
            <a:r>
              <a:rPr lang="en-US" sz="800" noProof="1"/>
              <a:t>$FILE_LIST_ON_SSH </a:t>
            </a:r>
            <a:br>
              <a:rPr lang="en-US" sz="800" noProof="1"/>
            </a:br>
            <a:r>
              <a:rPr lang="en-US" sz="800" noProof="1"/>
              <a:t>Files in $TEMP_FILE_LOCATION folder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= SSH 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Picks up $FILE_LIST_ON_SSH from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Copy 4 listed files to client folder $TEMP_FILE_LOCATION</a:t>
            </a:r>
            <a:br>
              <a:rPr lang="en-US" sz="800" noProof="1"/>
            </a:br>
            <a:r>
              <a:rPr lang="en-US" sz="800" noProof="1"/>
              <a:t>(= '/tmp/pragma-git-ssh-folders’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Convert $FILE_LIST_ON_SSH relative paths to $ABSOLUTE_FILE_LOCATIONS on client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CLIENT; ssh-close-pragma-merge-ssh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when closing local pragma-merge window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SIGNALING FILE: $TMP/pragma-merge-running-ssh on server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$FILE_LIST_ON_SSH on server</a:t>
            </a:r>
          </a:p>
        </p:txBody>
      </p:sp>
      <p:sp>
        <p:nvSpPr>
          <p:cNvPr id="10" name="textruta 5">
            <a:extLst>
              <a:ext uri="{FF2B5EF4-FFF2-40B4-BE49-F238E27FC236}">
                <a16:creationId xmlns:a16="http://schemas.microsoft.com/office/drawing/2014/main" id="{888AD4D2-EC1F-D93E-0C03-32EE71D053F5}"/>
              </a:ext>
            </a:extLst>
          </p:cNvPr>
          <p:cNvSpPr txBox="1"/>
          <p:nvPr/>
        </p:nvSpPr>
        <p:spPr>
          <a:xfrm>
            <a:off x="462390" y="2889686"/>
            <a:ext cx="31760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over ssh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DD6223-7018-132C-0215-5CEDAE45D71E}"/>
              </a:ext>
            </a:extLst>
          </p:cNvPr>
          <p:cNvCxnSpPr>
            <a:cxnSpLocks/>
          </p:cNvCxnSpPr>
          <p:nvPr/>
        </p:nvCxnSpPr>
        <p:spPr>
          <a:xfrm>
            <a:off x="8662374" y="3777582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DDA672-5FBE-49E1-4339-C38C0F628F39}"/>
              </a:ext>
            </a:extLst>
          </p:cNvPr>
          <p:cNvCxnSpPr>
            <a:cxnSpLocks/>
          </p:cNvCxnSpPr>
          <p:nvPr/>
        </p:nvCxnSpPr>
        <p:spPr>
          <a:xfrm>
            <a:off x="8607627" y="3793130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171B19D-1094-8E83-91A6-310B6F4C49B2}"/>
              </a:ext>
            </a:extLst>
          </p:cNvPr>
          <p:cNvSpPr txBox="1"/>
          <p:nvPr/>
        </p:nvSpPr>
        <p:spPr>
          <a:xfrm>
            <a:off x="6818173" y="3832476"/>
            <a:ext cx="5723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CLIENT</a:t>
            </a:r>
            <a:endParaRPr lang="en-US" sz="10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0136D7-C5AA-7877-0320-1A2EF067C287}"/>
              </a:ext>
            </a:extLst>
          </p:cNvPr>
          <p:cNvSpPr txBox="1"/>
          <p:nvPr/>
        </p:nvSpPr>
        <p:spPr>
          <a:xfrm>
            <a:off x="9370255" y="3801916"/>
            <a:ext cx="8207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SERVER</a:t>
            </a:r>
            <a:endParaRPr lang="en-US" sz="1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660ABB-182B-9D0E-3E01-E1CD397DF493}"/>
              </a:ext>
            </a:extLst>
          </p:cNvPr>
          <p:cNvSpPr txBox="1"/>
          <p:nvPr/>
        </p:nvSpPr>
        <p:spPr>
          <a:xfrm>
            <a:off x="6398112" y="4092381"/>
            <a:ext cx="2017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ssh-git-client ...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…difftool –tool pragma-merge ….</a:t>
            </a:r>
            <a:endParaRPr 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48E1E5-4708-8811-A2C3-E6832D47D186}"/>
              </a:ext>
            </a:extLst>
          </p:cNvPr>
          <p:cNvSpPr txBox="1"/>
          <p:nvPr/>
        </p:nvSpPr>
        <p:spPr>
          <a:xfrm>
            <a:off x="6316175" y="6954099"/>
            <a:ext cx="19335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closing pragma-merge , runs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ssh-close-pragma-merge-ssh</a:t>
            </a:r>
            <a:endParaRPr 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13F1E9-ED83-A50E-4EC1-55B9E8B4303A}"/>
              </a:ext>
            </a:extLst>
          </p:cNvPr>
          <p:cNvSpPr txBox="1"/>
          <p:nvPr/>
        </p:nvSpPr>
        <p:spPr>
          <a:xfrm>
            <a:off x="6450266" y="4610042"/>
            <a:ext cx="19335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delayed-start-pragma-merge</a:t>
            </a:r>
            <a:endParaRPr 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61B8D8-3994-94CC-FC6D-C267418FEE83}"/>
              </a:ext>
            </a:extLst>
          </p:cNvPr>
          <p:cNvSpPr txBox="1"/>
          <p:nvPr/>
        </p:nvSpPr>
        <p:spPr>
          <a:xfrm>
            <a:off x="6520892" y="5394482"/>
            <a:ext cx="152730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ssh-get-merge-files</a:t>
            </a:r>
            <a:endParaRPr 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4ED13C-32DC-0FB1-B3B7-5BC6F4EE854C}"/>
              </a:ext>
            </a:extLst>
          </p:cNvPr>
          <p:cNvSpPr txBox="1"/>
          <p:nvPr/>
        </p:nvSpPr>
        <p:spPr>
          <a:xfrm>
            <a:off x="8730617" y="4996254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EB1486-6DBD-0ACE-D455-C6B6EFA9C921}"/>
              </a:ext>
            </a:extLst>
          </p:cNvPr>
          <p:cNvSpPr txBox="1"/>
          <p:nvPr/>
        </p:nvSpPr>
        <p:spPr>
          <a:xfrm>
            <a:off x="9063029" y="4478912"/>
            <a:ext cx="13489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$BASE, $LOCAL, $REMOTE, $MERGED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632211-FD9F-9528-0621-7867C8F1306F}"/>
              </a:ext>
            </a:extLst>
          </p:cNvPr>
          <p:cNvSpPr txBox="1"/>
          <p:nvPr/>
        </p:nvSpPr>
        <p:spPr>
          <a:xfrm>
            <a:off x="6483101" y="6442409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BE719B7-B585-1413-3EBC-825AA7D8846B}"/>
              </a:ext>
            </a:extLst>
          </p:cNvPr>
          <p:cNvCxnSpPr>
            <a:cxnSpLocks/>
          </p:cNvCxnSpPr>
          <p:nvPr/>
        </p:nvCxnSpPr>
        <p:spPr>
          <a:xfrm>
            <a:off x="6818173" y="4946241"/>
            <a:ext cx="0" cy="493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77A5128-E8B7-5834-2321-F1AF04ED1419}"/>
              </a:ext>
            </a:extLst>
          </p:cNvPr>
          <p:cNvSpPr txBox="1"/>
          <p:nvPr/>
        </p:nvSpPr>
        <p:spPr>
          <a:xfrm>
            <a:off x="9139275" y="5193914"/>
            <a:ext cx="23173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  <a:endParaRPr lang="en-US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073D0FC-C31D-2BD7-5554-ACD7B5EE87D9}"/>
              </a:ext>
            </a:extLst>
          </p:cNvPr>
          <p:cNvSpPr txBox="1"/>
          <p:nvPr/>
        </p:nvSpPr>
        <p:spPr>
          <a:xfrm>
            <a:off x="9139275" y="5408002"/>
            <a:ext cx="23173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$FILE_LIST_ON_SSH</a:t>
            </a:r>
          </a:p>
          <a:p>
            <a:r>
              <a:rPr lang="en-US" sz="1000" noProof="1"/>
              <a:t>(list of $BASE, …, $MERGED)</a:t>
            </a:r>
            <a:endParaRPr lang="en-US" sz="1000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A72B33F-8720-5478-7BE4-58A901E1E409}"/>
              </a:ext>
            </a:extLst>
          </p:cNvPr>
          <p:cNvCxnSpPr>
            <a:cxnSpLocks/>
          </p:cNvCxnSpPr>
          <p:nvPr/>
        </p:nvCxnSpPr>
        <p:spPr>
          <a:xfrm>
            <a:off x="6729172" y="5673826"/>
            <a:ext cx="0" cy="790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1C0E38B-FEC3-0661-0883-6B52B7D25C76}"/>
              </a:ext>
            </a:extLst>
          </p:cNvPr>
          <p:cNvSpPr txBox="1"/>
          <p:nvPr/>
        </p:nvSpPr>
        <p:spPr>
          <a:xfrm>
            <a:off x="6742370" y="5613252"/>
            <a:ext cx="21454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Download $FILE_LIST_ON_SSH to</a:t>
            </a:r>
            <a:br>
              <a:rPr lang="en-US" sz="1000" noProof="1"/>
            </a:br>
            <a:r>
              <a:rPr lang="en-US" sz="1000" noProof="1"/>
              <a:t>$TEMP_FILE_LOCATION</a:t>
            </a:r>
            <a:endParaRPr lang="en-US" sz="1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D01BB4-853E-EDB9-0FB1-56005E292D73}"/>
              </a:ext>
            </a:extLst>
          </p:cNvPr>
          <p:cNvSpPr txBox="1"/>
          <p:nvPr/>
        </p:nvSpPr>
        <p:spPr>
          <a:xfrm>
            <a:off x="8752878" y="4083946"/>
            <a:ext cx="23708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difftool –tool pragma-merge ….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              Generates temp-files:</a:t>
            </a:r>
            <a:endParaRPr lang="en-US" sz="10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23F2FBD-ED69-F293-9816-58ECA6943E7B}"/>
              </a:ext>
            </a:extLst>
          </p:cNvPr>
          <p:cNvCxnSpPr>
            <a:cxnSpLocks/>
          </p:cNvCxnSpPr>
          <p:nvPr/>
        </p:nvCxnSpPr>
        <p:spPr>
          <a:xfrm>
            <a:off x="8972052" y="4318770"/>
            <a:ext cx="0" cy="726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5CCCFA7F-13DB-D954-5F20-89FE38ABC7AA}"/>
              </a:ext>
            </a:extLst>
          </p:cNvPr>
          <p:cNvCxnSpPr>
            <a:cxnSpLocks/>
          </p:cNvCxnSpPr>
          <p:nvPr/>
        </p:nvCxnSpPr>
        <p:spPr>
          <a:xfrm rot="10800000" flipV="1">
            <a:off x="8136388" y="4647961"/>
            <a:ext cx="2279630" cy="1234283"/>
          </a:xfrm>
          <a:prstGeom prst="bentConnector3">
            <a:avLst>
              <a:gd name="adj1" fmla="val -29674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38B10A2-02E3-7441-F8D6-0840D96F9BF6}"/>
              </a:ext>
            </a:extLst>
          </p:cNvPr>
          <p:cNvCxnSpPr>
            <a:cxnSpLocks/>
          </p:cNvCxnSpPr>
          <p:nvPr/>
        </p:nvCxnSpPr>
        <p:spPr>
          <a:xfrm flipH="1">
            <a:off x="7867597" y="5510256"/>
            <a:ext cx="1271678" cy="156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4A781A0F-F4DC-7C9E-1FB2-7158F21FDFFC}"/>
              </a:ext>
            </a:extLst>
          </p:cNvPr>
          <p:cNvSpPr txBox="1"/>
          <p:nvPr/>
        </p:nvSpPr>
        <p:spPr>
          <a:xfrm>
            <a:off x="6748642" y="6601328"/>
            <a:ext cx="176247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$ABSOLUTE_FILE_LOCATIONS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A618C09-2663-5F67-3D91-7E50361E0D84}"/>
              </a:ext>
            </a:extLst>
          </p:cNvPr>
          <p:cNvSpPr txBox="1"/>
          <p:nvPr/>
        </p:nvSpPr>
        <p:spPr>
          <a:xfrm>
            <a:off x="8937565" y="7133618"/>
            <a:ext cx="23173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</a:p>
          <a:p>
            <a:r>
              <a:rPr lang="en-US" sz="1000" noProof="1"/>
              <a:t>(remove signaling file, </a:t>
            </a:r>
            <a:br>
              <a:rPr lang="en-US" sz="1000" noProof="1"/>
            </a:br>
            <a:r>
              <a:rPr lang="en-US" sz="1000" noProof="1"/>
              <a:t>which close git difftool,</a:t>
            </a:r>
            <a:br>
              <a:rPr lang="en-US" sz="1000" noProof="1"/>
            </a:br>
            <a:r>
              <a:rPr lang="en-US" sz="1000" noProof="1"/>
              <a:t>which removes temp-files)</a:t>
            </a:r>
            <a:endParaRPr lang="en-US" sz="1000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0CD306D-9270-4B65-82C0-765ABFC09271}"/>
              </a:ext>
            </a:extLst>
          </p:cNvPr>
          <p:cNvGrpSpPr/>
          <p:nvPr/>
        </p:nvGrpSpPr>
        <p:grpSpPr>
          <a:xfrm>
            <a:off x="9029193" y="7201954"/>
            <a:ext cx="1796511" cy="122851"/>
            <a:chOff x="6875510" y="8853970"/>
            <a:chExt cx="1796511" cy="122851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A24F06F0-49FF-E61B-3D5F-2AC786B3394B}"/>
                </a:ext>
              </a:extLst>
            </p:cNvPr>
            <p:cNvCxnSpPr>
              <a:cxnSpLocks/>
            </p:cNvCxnSpPr>
            <p:nvPr/>
          </p:nvCxnSpPr>
          <p:spPr>
            <a:xfrm>
              <a:off x="6875510" y="8853970"/>
              <a:ext cx="1796511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4E50141-491C-C131-7192-8561BF572B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0075" y="8853970"/>
              <a:ext cx="1696517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CA630EE-0C17-1BD7-CA20-1BFFF039B2D7}"/>
              </a:ext>
            </a:extLst>
          </p:cNvPr>
          <p:cNvCxnSpPr>
            <a:cxnSpLocks/>
          </p:cNvCxnSpPr>
          <p:nvPr/>
        </p:nvCxnSpPr>
        <p:spPr>
          <a:xfrm flipV="1">
            <a:off x="7998776" y="7248660"/>
            <a:ext cx="912866" cy="814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258CDA59-4306-7694-39FE-F77F19A86D31}"/>
              </a:ext>
            </a:extLst>
          </p:cNvPr>
          <p:cNvSpPr txBox="1"/>
          <p:nvPr/>
        </p:nvSpPr>
        <p:spPr>
          <a:xfrm>
            <a:off x="6742370" y="5990542"/>
            <a:ext cx="19060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Make absolute paths of these in </a:t>
            </a:r>
            <a:br>
              <a:rPr lang="en-US" sz="1000" noProof="1"/>
            </a:br>
            <a:r>
              <a:rPr lang="en-US" sz="1000" noProof="1"/>
              <a:t>$ABSOLUTE_FILE_LOCATIONS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D05C266-01F6-F76D-D8F4-B73A83F678E7}"/>
              </a:ext>
            </a:extLst>
          </p:cNvPr>
          <p:cNvCxnSpPr>
            <a:cxnSpLocks/>
          </p:cNvCxnSpPr>
          <p:nvPr/>
        </p:nvCxnSpPr>
        <p:spPr>
          <a:xfrm flipV="1">
            <a:off x="8136388" y="4220299"/>
            <a:ext cx="635279" cy="98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C06213A-570A-2B83-9122-ABF77924BFCA}"/>
              </a:ext>
            </a:extLst>
          </p:cNvPr>
          <p:cNvCxnSpPr>
            <a:cxnSpLocks/>
          </p:cNvCxnSpPr>
          <p:nvPr/>
        </p:nvCxnSpPr>
        <p:spPr>
          <a:xfrm>
            <a:off x="6470853" y="7747611"/>
            <a:ext cx="2478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4AE73E9-94DA-8070-100A-50CBB784CFA3}"/>
              </a:ext>
            </a:extLst>
          </p:cNvPr>
          <p:cNvCxnSpPr>
            <a:cxnSpLocks/>
          </p:cNvCxnSpPr>
          <p:nvPr/>
        </p:nvCxnSpPr>
        <p:spPr>
          <a:xfrm>
            <a:off x="6483578" y="7900262"/>
            <a:ext cx="252358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8D66560C-3E53-AE28-C998-53DE7641AE5E}"/>
              </a:ext>
            </a:extLst>
          </p:cNvPr>
          <p:cNvSpPr txBox="1"/>
          <p:nvPr/>
        </p:nvSpPr>
        <p:spPr>
          <a:xfrm>
            <a:off x="6687254" y="7619678"/>
            <a:ext cx="10398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commands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file operations</a:t>
            </a:r>
            <a:endParaRPr lang="en-US" sz="1000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906DC65-386F-A065-C39D-E8F9213D6FA3}"/>
              </a:ext>
            </a:extLst>
          </p:cNvPr>
          <p:cNvSpPr txBox="1"/>
          <p:nvPr/>
        </p:nvSpPr>
        <p:spPr>
          <a:xfrm>
            <a:off x="10554968" y="4039443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EC5E2B6-56D8-2950-2989-2CA956431A57}"/>
              </a:ext>
            </a:extLst>
          </p:cNvPr>
          <p:cNvSpPr txBox="1"/>
          <p:nvPr/>
        </p:nvSpPr>
        <p:spPr>
          <a:xfrm>
            <a:off x="7972947" y="4546745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cxnSp>
        <p:nvCxnSpPr>
          <p:cNvPr id="148" name="Elbow Connector 147">
            <a:extLst>
              <a:ext uri="{FF2B5EF4-FFF2-40B4-BE49-F238E27FC236}">
                <a16:creationId xmlns:a16="http://schemas.microsoft.com/office/drawing/2014/main" id="{E2C22964-1A79-DF6F-11CB-AA2ED2389F3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398112" y="4219283"/>
            <a:ext cx="61298" cy="504725"/>
          </a:xfrm>
          <a:prstGeom prst="bentConnector3">
            <a:avLst>
              <a:gd name="adj1" fmla="val -37293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F71DA6D7-CCD9-ADBB-97CA-8528B218DF66}"/>
              </a:ext>
            </a:extLst>
          </p:cNvPr>
          <p:cNvSpPr txBox="1"/>
          <p:nvPr/>
        </p:nvSpPr>
        <p:spPr>
          <a:xfrm>
            <a:off x="6886416" y="5026821"/>
            <a:ext cx="6960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(wait 2 s)</a:t>
            </a:r>
            <a:endParaRPr lang="en-US" sz="1000" dirty="0"/>
          </a:p>
        </p:txBody>
      </p:sp>
      <p:sp>
        <p:nvSpPr>
          <p:cNvPr id="154" name="Right Brace 153">
            <a:extLst>
              <a:ext uri="{FF2B5EF4-FFF2-40B4-BE49-F238E27FC236}">
                <a16:creationId xmlns:a16="http://schemas.microsoft.com/office/drawing/2014/main" id="{8581082B-D67F-93AE-F34A-EE44EE6041E9}"/>
              </a:ext>
            </a:extLst>
          </p:cNvPr>
          <p:cNvSpPr/>
          <p:nvPr/>
        </p:nvSpPr>
        <p:spPr>
          <a:xfrm>
            <a:off x="10232136" y="4496533"/>
            <a:ext cx="138162" cy="39337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DCD37A85-53A7-04DE-FAA1-BB7E94E9B34E}"/>
              </a:ext>
            </a:extLst>
          </p:cNvPr>
          <p:cNvSpPr txBox="1"/>
          <p:nvPr/>
        </p:nvSpPr>
        <p:spPr>
          <a:xfrm>
            <a:off x="4651737" y="947704"/>
            <a:ext cx="6694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File operations that works locally and on ssh server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FF3C9341-A2A2-DB9D-5BC3-402F8F43647B}"/>
              </a:ext>
            </a:extLst>
          </p:cNvPr>
          <p:cNvSpPr txBox="1"/>
          <p:nvPr/>
        </p:nvSpPr>
        <p:spPr>
          <a:xfrm>
            <a:off x="4813121" y="1521282"/>
            <a:ext cx="5927153" cy="954107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Some file operations should work both locally and on server.  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ssh_folder/ssh-folderlib.js </a:t>
            </a:r>
            <a:r>
              <a:rPr lang="en-US" sz="800" noProof="1"/>
              <a:t>is  javascript wrappers to bash scripts in “ssh_folder”.</a:t>
            </a:r>
            <a:br>
              <a:rPr lang="en-US" sz="800" noProof="1"/>
            </a:br>
            <a:r>
              <a:rPr lang="en-US" sz="800" noProof="1"/>
              <a:t>Some functions are exclusive ssh, some are made to work both locally and over ssh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fs_existsSync  </a:t>
            </a:r>
            <a:r>
              <a:rPr lang="en-US" sz="800" noProof="1"/>
              <a:t>-- works transparently as fs.existsSync both  on server and locally</a:t>
            </a:r>
            <a:br>
              <a:rPr lang="en-US" sz="800" noProof="1"/>
            </a:br>
            <a:r>
              <a:rPr lang="en-US" sz="800" noProof="1">
                <a:solidFill>
                  <a:schemeClr val="accent1"/>
                </a:solidFill>
              </a:rPr>
              <a:t>fs.existsSync  </a:t>
            </a:r>
            <a:r>
              <a:rPr lang="en-US" sz="800" noProof="1"/>
              <a:t>-- works only locally (used for signal files, settings, Notes, etc that should not be on ssh server)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B4C26E-1F75-21FF-1C5B-FA2AA1E1E0E0}"/>
              </a:ext>
            </a:extLst>
          </p:cNvPr>
          <p:cNvSpPr txBox="1"/>
          <p:nvPr/>
        </p:nvSpPr>
        <p:spPr>
          <a:xfrm>
            <a:off x="513990" y="3407195"/>
            <a:ext cx="50195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BELOW IS DOCUMENTED IN  </a:t>
            </a:r>
            <a:r>
              <a:rPr lang="en-US" sz="1400" b="1" noProof="1">
                <a:hlinkClick r:id="rId2"/>
              </a:rPr>
              <a:t>SSH-folder-documentation.xlsx</a:t>
            </a:r>
            <a:endParaRPr lang="en-US"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D517F4-28AB-E486-0DB1-C8B56C3E504D}"/>
              </a:ext>
            </a:extLst>
          </p:cNvPr>
          <p:cNvSpPr txBox="1"/>
          <p:nvPr/>
        </p:nvSpPr>
        <p:spPr>
          <a:xfrm>
            <a:off x="5996356" y="8720843"/>
            <a:ext cx="5592030" cy="55399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000" b="1" noProof="1"/>
              <a:t>Reading and Writing files </a:t>
            </a:r>
            <a:r>
              <a:rPr lang="en-US" sz="1000" noProof="1"/>
              <a:t>relative the server’s repo base, is done with additional scripts: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1"/>
              <a:t>ssh-get  --  Used for edit-link in changed list, and for .gitignore tool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1"/>
              <a:t>ssh-put  --  Used to update server file after a file is modified in pragma-merge. Also for .gitignore tool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3A75491-E066-021D-9B1B-CCADDB40C015}"/>
              </a:ext>
            </a:extLst>
          </p:cNvPr>
          <p:cNvSpPr txBox="1"/>
          <p:nvPr/>
        </p:nvSpPr>
        <p:spPr>
          <a:xfrm>
            <a:off x="6035314" y="8179239"/>
            <a:ext cx="54840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*)  NOTE, git difftool waits until pragma-merge is closed. That’s why I start a delayed local</a:t>
            </a:r>
          </a:p>
          <a:p>
            <a:r>
              <a:rPr lang="en-US" sz="1000" noProof="1"/>
              <a:t> pick-up of files -- to give server difftool time to generate BASE, … 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5347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  <p:sp>
        <p:nvSpPr>
          <p:cNvPr id="2" name="textruta 7">
            <a:extLst>
              <a:ext uri="{FF2B5EF4-FFF2-40B4-BE49-F238E27FC236}">
                <a16:creationId xmlns:a16="http://schemas.microsoft.com/office/drawing/2014/main" id="{BA4EEBAF-B070-ABA0-6841-81950B660846}"/>
              </a:ext>
            </a:extLst>
          </p:cNvPr>
          <p:cNvSpPr txBox="1"/>
          <p:nvPr/>
        </p:nvSpPr>
        <p:spPr>
          <a:xfrm>
            <a:off x="8057615" y="955246"/>
            <a:ext cx="2816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Change nwjs-version</a:t>
            </a:r>
          </a:p>
        </p:txBody>
      </p:sp>
      <p:sp>
        <p:nvSpPr>
          <p:cNvPr id="3" name="textruta 6">
            <a:extLst>
              <a:ext uri="{FF2B5EF4-FFF2-40B4-BE49-F238E27FC236}">
                <a16:creationId xmlns:a16="http://schemas.microsoft.com/office/drawing/2014/main" id="{DB43E805-6425-D6EA-8BA3-2E44D0EF7CBB}"/>
              </a:ext>
            </a:extLst>
          </p:cNvPr>
          <p:cNvSpPr txBox="1"/>
          <p:nvPr/>
        </p:nvSpPr>
        <p:spPr>
          <a:xfrm>
            <a:off x="8067140" y="1545040"/>
            <a:ext cx="3274288" cy="28007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Download</a:t>
            </a:r>
            <a:r>
              <a:rPr lang="en-US" sz="800" noProof="1"/>
              <a:t> new nwjs-version to /Apps/nwjs.app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Make runnable:</a:t>
            </a:r>
            <a:br>
              <a:rPr lang="en-US" sz="800" b="1" noProof="1"/>
            </a:br>
            <a:r>
              <a:rPr lang="en-US" sz="800" noProof="1"/>
              <a:t>sudo xattr -r -d com.apple.quarantine /Applications/nwjs.app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</a:t>
            </a:r>
            <a:r>
              <a:rPr lang="en-US" sz="800" noProof="1"/>
              <a:t> </a:t>
            </a:r>
            <a:r>
              <a:rPr lang="en-US" sz="800" b="1" noProof="1"/>
              <a:t>package.json </a:t>
            </a:r>
            <a:r>
              <a:rPr lang="en-US" sz="800" noProof="1"/>
              <a:t>to correct nwjs version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F12 when running pragma-git, then</a:t>
            </a:r>
            <a:br>
              <a:rPr lang="en-US" sz="800" noProof="1"/>
            </a:br>
            <a:r>
              <a:rPr lang="en-US" sz="800" noProof="1"/>
              <a:t>process.version  // gives node version (also Settings Info)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NODE  to same version as prcess.version. 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volta install node@VERSION  # for instance: “node@21.1.0”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npm versions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npm update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Check what package versions are not updated .</a:t>
            </a:r>
            <a:r>
              <a:rPr lang="en-US" sz="800" noProof="1"/>
              <a:t> </a:t>
            </a:r>
            <a:r>
              <a:rPr lang="en-US" sz="800" b="1" noProof="1"/>
              <a:t>In bash:</a:t>
            </a:r>
            <a:br>
              <a:rPr lang="en-US" sz="800" b="1" noProof="1"/>
            </a:br>
            <a:r>
              <a:rPr lang="en-US" sz="800" noProof="1"/>
              <a:t>npm outdated</a:t>
            </a:r>
          </a:p>
          <a:p>
            <a:endParaRPr lang="en-US" sz="800" noProof="1"/>
          </a:p>
          <a:p>
            <a:r>
              <a:rPr lang="en-US" sz="800" b="1" noProof="1"/>
              <a:t>... keep working ...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66711</TotalTime>
  <Words>5896</Words>
  <Application>Microsoft Macintosh PowerPoint</Application>
  <PresentationFormat>A3 Paper (297x420 mm)</PresentationFormat>
  <Paragraphs>673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308</cp:revision>
  <dcterms:created xsi:type="dcterms:W3CDTF">2020-06-24T14:21:06Z</dcterms:created>
  <dcterms:modified xsi:type="dcterms:W3CDTF">2025-09-10T15:21:17Z</dcterms:modified>
</cp:coreProperties>
</file>