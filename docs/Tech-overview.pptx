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56" r:id="rId3"/>
    <p:sldId id="260" r:id="rId4"/>
    <p:sldId id="261" r:id="rId5"/>
    <p:sldId id="262" r:id="rId6"/>
    <p:sldId id="257" r:id="rId7"/>
    <p:sldId id="264" r:id="rId8"/>
    <p:sldId id="265" r:id="rId9"/>
    <p:sldId id="258" r:id="rId10"/>
    <p:sldId id="263" r:id="rId11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Axelsson" initials="JA" lastIdx="11" clrIdx="0">
    <p:extLst>
      <p:ext uri="{19B8F6BF-5375-455C-9EA6-DF929625EA0E}">
        <p15:presenceInfo xmlns:p15="http://schemas.microsoft.com/office/powerpoint/2012/main" userId="b33c80541ab39d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0"/>
    <p:restoredTop sz="96339"/>
  </p:normalViewPr>
  <p:slideViewPr>
    <p:cSldViewPr snapToGrid="0" snapToObjects="1">
      <p:cViewPr>
        <p:scale>
          <a:sx n="140" d="100"/>
          <a:sy n="140" d="100"/>
        </p:scale>
        <p:origin x="-600" y="-1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501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675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639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3743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857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71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591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738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21796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540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990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55E1B-8830-B64E-B102-DB2BBD0D9567}" type="datetimeFigureOut">
              <a:rPr lang="sv-SE" smtClean="0"/>
              <a:t>2025-05-23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34F92-0037-0C48-AEFF-E1E3E0D654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185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gma-git/Pragma-git/releas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Graph_structure.xls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/Users/jan/Documents/Projects/Pragma-git/pragma-git/docs/Graph_structure.xlsx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wutils/nwd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1BE35874-A057-7047-8E91-E858BEF7540B}"/>
              </a:ext>
            </a:extLst>
          </p:cNvPr>
          <p:cNvSpPr txBox="1"/>
          <p:nvPr/>
        </p:nvSpPr>
        <p:spPr>
          <a:xfrm>
            <a:off x="133080" y="73672"/>
            <a:ext cx="38268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Create release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15B9CFC-FAED-A34A-93E8-6CDE7977E9EB}"/>
              </a:ext>
            </a:extLst>
          </p:cNvPr>
          <p:cNvSpPr/>
          <p:nvPr/>
        </p:nvSpPr>
        <p:spPr>
          <a:xfrm>
            <a:off x="429032" y="1033821"/>
            <a:ext cx="5114372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Develop non-release is called 0.0.0. It should be updated in master branch for a release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Merge </a:t>
            </a:r>
            <a:r>
              <a:rPr lang="en-US" sz="800" noProof="1"/>
              <a:t>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develop into main</a:t>
            </a:r>
            <a:br>
              <a:rPr lang="en-US" sz="800" noProof="1">
                <a:solidFill>
                  <a:schemeClr val="accent1"/>
                </a:solidFill>
              </a:rPr>
            </a:br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set version </a:t>
            </a:r>
            <a:r>
              <a:rPr lang="en-US" sz="800" noProof="1"/>
              <a:t> (X.Y.Z)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package.js</a:t>
            </a:r>
            <a:br>
              <a:rPr lang="en-US" sz="800" noProof="1"/>
            </a:b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Modify  3) in this file :</a:t>
            </a:r>
            <a:br>
              <a:rPr lang="en-US" sz="800" noProof="1"/>
            </a:br>
            <a:r>
              <a:rPr lang="en-US" sz="800" noProof="1"/>
              <a:t>/Users/jan/Documents/Projects/Pragma-git/Pragma-git/make_binaries/release_to_github</a:t>
            </a:r>
            <a:br>
              <a:rPr lang="en-US" sz="800" noProof="1"/>
            </a:b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cd /Users/jan/Documents/Projects/Pragma-git/Pragma-git/make_binaries</a:t>
            </a:r>
            <a:br>
              <a:rPr lang="en-US" sz="800" noProof="1"/>
            </a:br>
            <a:r>
              <a:rPr lang="en-US" sz="800" noProof="1"/>
              <a:t>./build</a:t>
            </a:r>
          </a:p>
          <a:p>
            <a:pPr marL="152550" lvl="1"/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commit with name X.Y.Z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create tag with same name X.Y.Z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create Install files and Draft-Release</a:t>
            </a:r>
            <a:r>
              <a:rPr lang="en-US" sz="800" noProof="1"/>
              <a:t>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cd /Users/jan/Documents/Projects/Pragma-git/Pragma-git/make_binaries</a:t>
            </a:r>
            <a:br>
              <a:rPr lang="en-US" sz="800" noProof="1"/>
            </a:br>
            <a:r>
              <a:rPr lang="en-US" sz="800" noProof="1"/>
              <a:t>./release_to_github</a:t>
            </a:r>
            <a:br>
              <a:rPr lang="en-US" sz="800" noProof="1"/>
            </a:b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Release the draft</a:t>
            </a:r>
            <a:r>
              <a:rPr lang="en-US" sz="800" noProof="1"/>
              <a:t>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>
                <a:hlinkClick r:id="rId2"/>
              </a:rPr>
              <a:t>https://github.com/Pragma-git/Pragma-git/releases</a:t>
            </a:r>
            <a:r>
              <a:rPr lang="en-US" sz="800" noProof="1"/>
              <a:t> , verify and Save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 can mark this as prerelease =&gt; will only be updated if settings.json allowPrerelease = true</a:t>
            </a:r>
          </a:p>
          <a:p>
            <a:pPr marL="152550" lvl="1"/>
            <a:endParaRPr lang="en-US" sz="800" noProof="1"/>
          </a:p>
          <a:p>
            <a:pPr marL="152550" lvl="1"/>
            <a:endParaRPr lang="en-US" sz="800" noProof="1"/>
          </a:p>
          <a:p>
            <a:pPr marL="152550" lvl="1"/>
            <a:r>
              <a:rPr lang="en-US" sz="800" noProof="1"/>
              <a:t>install files are pushed to github, and temporarily stored  in : /Users/jan/Documents/Projects/Pragma-git/dist</a:t>
            </a:r>
          </a:p>
        </p:txBody>
      </p:sp>
    </p:spTree>
    <p:extLst>
      <p:ext uri="{BB962C8B-B14F-4D97-AF65-F5344CB8AC3E}">
        <p14:creationId xmlns:p14="http://schemas.microsoft.com/office/powerpoint/2010/main" val="2616709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ruta 11">
            <a:extLst>
              <a:ext uri="{FF2B5EF4-FFF2-40B4-BE49-F238E27FC236}">
                <a16:creationId xmlns:a16="http://schemas.microsoft.com/office/drawing/2014/main" id="{4BB0C9B9-2419-0546-B7C2-C26F515A2084}"/>
              </a:ext>
            </a:extLst>
          </p:cNvPr>
          <p:cNvSpPr txBox="1"/>
          <p:nvPr/>
        </p:nvSpPr>
        <p:spPr>
          <a:xfrm>
            <a:off x="2577395" y="1403545"/>
            <a:ext cx="4370113" cy="181837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3AC39E3F-0802-2148-B609-D6D3A83CBA6C}"/>
              </a:ext>
            </a:extLst>
          </p:cNvPr>
          <p:cNvSpPr txBox="1"/>
          <p:nvPr/>
        </p:nvSpPr>
        <p:spPr>
          <a:xfrm>
            <a:off x="124203" y="60782"/>
            <a:ext cx="2904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noProof="1">
                <a:solidFill>
                  <a:schemeClr val="accent1"/>
                </a:solidFill>
              </a:rPr>
              <a:t>Main Window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784C1DE6-0848-FD41-8CF8-35BB8DB78292}"/>
              </a:ext>
            </a:extLst>
          </p:cNvPr>
          <p:cNvSpPr txBox="1"/>
          <p:nvPr/>
        </p:nvSpPr>
        <p:spPr>
          <a:xfrm>
            <a:off x="6193613" y="1887360"/>
            <a:ext cx="592660" cy="276999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noProof="1"/>
              <a:t>STORE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7BBD17BA-0D24-F040-87F4-384F2FF5BD1F}"/>
              </a:ext>
            </a:extLst>
          </p:cNvPr>
          <p:cNvSpPr txBox="1"/>
          <p:nvPr/>
        </p:nvSpPr>
        <p:spPr>
          <a:xfrm>
            <a:off x="3020887" y="1594295"/>
            <a:ext cx="3030436" cy="830997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message …</a:t>
            </a:r>
          </a:p>
          <a:p>
            <a:r>
              <a:rPr lang="en-US" sz="1200" noProof="1"/>
              <a:t>(shows instructions placeholder</a:t>
            </a:r>
          </a:p>
          <a:p>
            <a:r>
              <a:rPr lang="en-US" sz="1200" noProof="1"/>
              <a:t>or acts as input field)</a:t>
            </a:r>
          </a:p>
          <a:p>
            <a:endParaRPr lang="en-US" sz="1200" noProof="1"/>
          </a:p>
        </p:txBody>
      </p:sp>
      <p:sp>
        <p:nvSpPr>
          <p:cNvPr id="23" name="textruta 22">
            <a:extLst>
              <a:ext uri="{FF2B5EF4-FFF2-40B4-BE49-F238E27FC236}">
                <a16:creationId xmlns:a16="http://schemas.microsoft.com/office/drawing/2014/main" id="{37441B85-8EDB-D642-AA8A-0D0BE0137537}"/>
              </a:ext>
            </a:extLst>
          </p:cNvPr>
          <p:cNvSpPr txBox="1"/>
          <p:nvPr/>
        </p:nvSpPr>
        <p:spPr>
          <a:xfrm>
            <a:off x="2577395" y="1129352"/>
            <a:ext cx="437011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solidFill>
                  <a:schemeClr val="accent6"/>
                </a:solidFill>
              </a:rPr>
              <a:t>[?]</a:t>
            </a:r>
            <a:r>
              <a:rPr lang="en-US" sz="1200" noProof="1"/>
              <a:t>  REPO (</a:t>
            </a:r>
            <a:r>
              <a:rPr lang="en-US" sz="1200" u="sng" noProof="1"/>
              <a:t>branch</a:t>
            </a:r>
            <a:r>
              <a:rPr lang="en-US" sz="1200" noProof="1"/>
              <a:t>)                           </a:t>
            </a:r>
            <a:r>
              <a:rPr lang="en-US" sz="900" noProof="1">
                <a:solidFill>
                  <a:schemeClr val="accent6"/>
                </a:solidFill>
              </a:rPr>
              <a:t>stash / stash-pop /pull/push/merge </a:t>
            </a:r>
            <a:r>
              <a:rPr lang="en-US" sz="1200" noProof="1">
                <a:solidFill>
                  <a:schemeClr val="accent6"/>
                </a:solidFill>
              </a:rPr>
              <a:t>          X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74F1901E-D1B7-7741-B5F7-FE631FEC141F}"/>
              </a:ext>
            </a:extLst>
          </p:cNvPr>
          <p:cNvSpPr txBox="1"/>
          <p:nvPr/>
        </p:nvSpPr>
        <p:spPr>
          <a:xfrm>
            <a:off x="2577395" y="3221916"/>
            <a:ext cx="437011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solidFill>
                  <a:schemeClr val="accent6"/>
                </a:solidFill>
              </a:rPr>
              <a:t>[FOLDER]   </a:t>
            </a:r>
            <a:r>
              <a:rPr lang="en-US" sz="1200" noProof="1"/>
              <a:t>Modified = 0 | New = 1 | Deleted = 1              </a:t>
            </a:r>
            <a:r>
              <a:rPr lang="en-US" sz="1200" noProof="1">
                <a:solidFill>
                  <a:schemeClr val="accent6"/>
                </a:solidFill>
              </a:rPr>
              <a:t>[SETTINGS]</a:t>
            </a: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03058C91-441B-2E44-8B3B-5A39861D777E}"/>
              </a:ext>
            </a:extLst>
          </p:cNvPr>
          <p:cNvSpPr txBox="1"/>
          <p:nvPr/>
        </p:nvSpPr>
        <p:spPr>
          <a:xfrm>
            <a:off x="3038708" y="2520175"/>
            <a:ext cx="3012616" cy="461665"/>
          </a:xfrm>
          <a:prstGeom prst="rect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output (visible when needed)</a:t>
            </a:r>
          </a:p>
          <a:p>
            <a:endParaRPr lang="en-US" sz="1200" noProof="1"/>
          </a:p>
        </p:txBody>
      </p:sp>
      <p:sp>
        <p:nvSpPr>
          <p:cNvPr id="28" name="textruta 27">
            <a:extLst>
              <a:ext uri="{FF2B5EF4-FFF2-40B4-BE49-F238E27FC236}">
                <a16:creationId xmlns:a16="http://schemas.microsoft.com/office/drawing/2014/main" id="{85A7BDF3-8052-FF46-B50F-A3AD1A2B8A0A}"/>
              </a:ext>
            </a:extLst>
          </p:cNvPr>
          <p:cNvSpPr txBox="1"/>
          <p:nvPr/>
        </p:nvSpPr>
        <p:spPr>
          <a:xfrm>
            <a:off x="8286285" y="251502"/>
            <a:ext cx="4482670" cy="3600986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29" name="textruta 28">
            <a:extLst>
              <a:ext uri="{FF2B5EF4-FFF2-40B4-BE49-F238E27FC236}">
                <a16:creationId xmlns:a16="http://schemas.microsoft.com/office/drawing/2014/main" id="{4A9EB256-0BA0-F345-A3EF-5484D7AB958C}"/>
              </a:ext>
            </a:extLst>
          </p:cNvPr>
          <p:cNvSpPr txBox="1"/>
          <p:nvPr/>
        </p:nvSpPr>
        <p:spPr>
          <a:xfrm>
            <a:off x="8492569" y="437438"/>
            <a:ext cx="3969966" cy="156966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noProof="1"/>
              <a:t>Repos</a:t>
            </a:r>
          </a:p>
          <a:p>
            <a:r>
              <a:rPr lang="en-US" sz="1200" noProof="1"/>
              <a:t>Local folder                   Remote repos            Remote     Action</a:t>
            </a:r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r>
              <a:rPr lang="en-US" sz="1200" noProof="1"/>
              <a:t>…</a:t>
            </a:r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30" name="textruta 29">
            <a:extLst>
              <a:ext uri="{FF2B5EF4-FFF2-40B4-BE49-F238E27FC236}">
                <a16:creationId xmlns:a16="http://schemas.microsoft.com/office/drawing/2014/main" id="{E34E4517-188B-434B-8541-B5D805BFEFB7}"/>
              </a:ext>
            </a:extLst>
          </p:cNvPr>
          <p:cNvSpPr txBox="1"/>
          <p:nvPr/>
        </p:nvSpPr>
        <p:spPr>
          <a:xfrm>
            <a:off x="11363142" y="974926"/>
            <a:ext cx="478361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Set</a:t>
            </a:r>
          </a:p>
        </p:txBody>
      </p:sp>
      <p:sp>
        <p:nvSpPr>
          <p:cNvPr id="31" name="textruta 30">
            <a:extLst>
              <a:ext uri="{FF2B5EF4-FFF2-40B4-BE49-F238E27FC236}">
                <a16:creationId xmlns:a16="http://schemas.microsoft.com/office/drawing/2014/main" id="{96526D1F-8040-C14C-8F74-3BA77D9651AB}"/>
              </a:ext>
            </a:extLst>
          </p:cNvPr>
          <p:cNvSpPr txBox="1"/>
          <p:nvPr/>
        </p:nvSpPr>
        <p:spPr>
          <a:xfrm>
            <a:off x="11893889" y="974927"/>
            <a:ext cx="531305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Forget</a:t>
            </a:r>
          </a:p>
        </p:txBody>
      </p:sp>
      <p:sp>
        <p:nvSpPr>
          <p:cNvPr id="32" name="textruta 31">
            <a:extLst>
              <a:ext uri="{FF2B5EF4-FFF2-40B4-BE49-F238E27FC236}">
                <a16:creationId xmlns:a16="http://schemas.microsoft.com/office/drawing/2014/main" id="{B3A19FB6-EF13-8F43-85EB-7A177722F07F}"/>
              </a:ext>
            </a:extLst>
          </p:cNvPr>
          <p:cNvSpPr txBox="1"/>
          <p:nvPr/>
        </p:nvSpPr>
        <p:spPr>
          <a:xfrm>
            <a:off x="8550949" y="972373"/>
            <a:ext cx="1354269" cy="276999"/>
          </a:xfrm>
          <a:prstGeom prst="rect">
            <a:avLst/>
          </a:prstGeom>
          <a:noFill/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O /path1</a:t>
            </a:r>
          </a:p>
        </p:txBody>
      </p:sp>
      <p:sp>
        <p:nvSpPr>
          <p:cNvPr id="33" name="textruta 32">
            <a:extLst>
              <a:ext uri="{FF2B5EF4-FFF2-40B4-BE49-F238E27FC236}">
                <a16:creationId xmlns:a16="http://schemas.microsoft.com/office/drawing/2014/main" id="{CE742FA5-E040-3A4E-A5CF-AC08716F2E63}"/>
              </a:ext>
            </a:extLst>
          </p:cNvPr>
          <p:cNvSpPr txBox="1"/>
          <p:nvPr/>
        </p:nvSpPr>
        <p:spPr>
          <a:xfrm>
            <a:off x="9957604" y="982710"/>
            <a:ext cx="1342466" cy="276999"/>
          </a:xfrm>
          <a:prstGeom prst="rect">
            <a:avLst/>
          </a:prstGeom>
          <a:noFill/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https://g….</a:t>
            </a:r>
          </a:p>
        </p:txBody>
      </p:sp>
      <p:sp>
        <p:nvSpPr>
          <p:cNvPr id="38" name="textruta 37">
            <a:extLst>
              <a:ext uri="{FF2B5EF4-FFF2-40B4-BE49-F238E27FC236}">
                <a16:creationId xmlns:a16="http://schemas.microsoft.com/office/drawing/2014/main" id="{A524934C-CBAA-6949-93CE-3F07CD9B222B}"/>
              </a:ext>
            </a:extLst>
          </p:cNvPr>
          <p:cNvSpPr txBox="1"/>
          <p:nvPr/>
        </p:nvSpPr>
        <p:spPr>
          <a:xfrm>
            <a:off x="8553067" y="1697144"/>
            <a:ext cx="522198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Folder</a:t>
            </a:r>
          </a:p>
        </p:txBody>
      </p:sp>
      <p:sp>
        <p:nvSpPr>
          <p:cNvPr id="39" name="textruta 38">
            <a:extLst>
              <a:ext uri="{FF2B5EF4-FFF2-40B4-BE49-F238E27FC236}">
                <a16:creationId xmlns:a16="http://schemas.microsoft.com/office/drawing/2014/main" id="{B6FC343A-3FA2-DF42-9B1A-56BD401DEA09}"/>
              </a:ext>
            </a:extLst>
          </p:cNvPr>
          <p:cNvSpPr txBox="1"/>
          <p:nvPr/>
        </p:nvSpPr>
        <p:spPr>
          <a:xfrm>
            <a:off x="9133645" y="1668351"/>
            <a:ext cx="806080" cy="276999"/>
          </a:xfrm>
          <a:prstGeom prst="rect">
            <a:avLst/>
          </a:prstGeom>
          <a:noFill/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/path1</a:t>
            </a:r>
          </a:p>
        </p:txBody>
      </p:sp>
      <p:sp>
        <p:nvSpPr>
          <p:cNvPr id="43" name="textruta 42">
            <a:extLst>
              <a:ext uri="{FF2B5EF4-FFF2-40B4-BE49-F238E27FC236}">
                <a16:creationId xmlns:a16="http://schemas.microsoft.com/office/drawing/2014/main" id="{646DF58B-FB7C-F648-908A-B0E4D4B42ECA}"/>
              </a:ext>
            </a:extLst>
          </p:cNvPr>
          <p:cNvSpPr txBox="1"/>
          <p:nvPr/>
        </p:nvSpPr>
        <p:spPr>
          <a:xfrm>
            <a:off x="9981892" y="1668351"/>
            <a:ext cx="1346024" cy="276999"/>
          </a:xfrm>
          <a:prstGeom prst="rect">
            <a:avLst/>
          </a:prstGeom>
          <a:noFill/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https://g….</a:t>
            </a:r>
          </a:p>
        </p:txBody>
      </p:sp>
      <p:sp>
        <p:nvSpPr>
          <p:cNvPr id="44" name="textruta 43">
            <a:extLst>
              <a:ext uri="{FF2B5EF4-FFF2-40B4-BE49-F238E27FC236}">
                <a16:creationId xmlns:a16="http://schemas.microsoft.com/office/drawing/2014/main" id="{03041ADF-D32A-FD46-993F-B29A1D9958BC}"/>
              </a:ext>
            </a:extLst>
          </p:cNvPr>
          <p:cNvSpPr txBox="1"/>
          <p:nvPr/>
        </p:nvSpPr>
        <p:spPr>
          <a:xfrm>
            <a:off x="11365259" y="1707994"/>
            <a:ext cx="478361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Test</a:t>
            </a:r>
          </a:p>
        </p:txBody>
      </p:sp>
      <p:sp>
        <p:nvSpPr>
          <p:cNvPr id="45" name="textruta 44">
            <a:extLst>
              <a:ext uri="{FF2B5EF4-FFF2-40B4-BE49-F238E27FC236}">
                <a16:creationId xmlns:a16="http://schemas.microsoft.com/office/drawing/2014/main" id="{A1F1514D-D04E-EB48-8744-8AD8DCCC9C88}"/>
              </a:ext>
            </a:extLst>
          </p:cNvPr>
          <p:cNvSpPr txBox="1"/>
          <p:nvPr/>
        </p:nvSpPr>
        <p:spPr>
          <a:xfrm>
            <a:off x="11948951" y="1707994"/>
            <a:ext cx="478361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Clone</a:t>
            </a:r>
          </a:p>
        </p:txBody>
      </p:sp>
      <p:sp>
        <p:nvSpPr>
          <p:cNvPr id="46" name="textruta 45">
            <a:extLst>
              <a:ext uri="{FF2B5EF4-FFF2-40B4-BE49-F238E27FC236}">
                <a16:creationId xmlns:a16="http://schemas.microsoft.com/office/drawing/2014/main" id="{F9FE23E6-128E-8440-B93D-5A4D6185C3C5}"/>
              </a:ext>
            </a:extLst>
          </p:cNvPr>
          <p:cNvSpPr txBox="1"/>
          <p:nvPr/>
        </p:nvSpPr>
        <p:spPr>
          <a:xfrm>
            <a:off x="8486754" y="2082819"/>
            <a:ext cx="3969966" cy="1015663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noProof="1"/>
              <a:t>Branches </a:t>
            </a:r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(updates when Repos radiobutton changed)</a:t>
            </a:r>
          </a:p>
          <a:p>
            <a:r>
              <a:rPr lang="en-US" sz="1200" noProof="1"/>
              <a:t>Action    Branch</a:t>
            </a:r>
          </a:p>
          <a:p>
            <a:r>
              <a:rPr lang="en-US" sz="1200" noProof="1"/>
              <a:t>…              …..</a:t>
            </a:r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47" name="textruta 46">
            <a:extLst>
              <a:ext uri="{FF2B5EF4-FFF2-40B4-BE49-F238E27FC236}">
                <a16:creationId xmlns:a16="http://schemas.microsoft.com/office/drawing/2014/main" id="{9BDD9D10-9B42-FE46-A5B2-5FB4E1AFA853}"/>
              </a:ext>
            </a:extLst>
          </p:cNvPr>
          <p:cNvSpPr txBox="1"/>
          <p:nvPr/>
        </p:nvSpPr>
        <p:spPr>
          <a:xfrm>
            <a:off x="8600248" y="2810244"/>
            <a:ext cx="394265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Add</a:t>
            </a:r>
          </a:p>
        </p:txBody>
      </p:sp>
      <p:sp>
        <p:nvSpPr>
          <p:cNvPr id="48" name="textruta 47">
            <a:extLst>
              <a:ext uri="{FF2B5EF4-FFF2-40B4-BE49-F238E27FC236}">
                <a16:creationId xmlns:a16="http://schemas.microsoft.com/office/drawing/2014/main" id="{9896A76B-9E74-1740-BC7A-A5367DB68FF4}"/>
              </a:ext>
            </a:extLst>
          </p:cNvPr>
          <p:cNvSpPr txBox="1"/>
          <p:nvPr/>
        </p:nvSpPr>
        <p:spPr>
          <a:xfrm>
            <a:off x="9070713" y="2782936"/>
            <a:ext cx="952325" cy="276999"/>
          </a:xfrm>
          <a:prstGeom prst="rect">
            <a:avLst/>
          </a:prstGeom>
          <a:noFill/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/>
              <a:t>newbranch</a:t>
            </a:r>
          </a:p>
        </p:txBody>
      </p:sp>
      <p:sp>
        <p:nvSpPr>
          <p:cNvPr id="49" name="textruta 48">
            <a:extLst>
              <a:ext uri="{FF2B5EF4-FFF2-40B4-BE49-F238E27FC236}">
                <a16:creationId xmlns:a16="http://schemas.microsoft.com/office/drawing/2014/main" id="{959395B0-2662-3547-A72D-1F21C73665A1}"/>
              </a:ext>
            </a:extLst>
          </p:cNvPr>
          <p:cNvSpPr txBox="1"/>
          <p:nvPr/>
        </p:nvSpPr>
        <p:spPr>
          <a:xfrm>
            <a:off x="8475182" y="3156424"/>
            <a:ext cx="3969966" cy="646331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noProof="1"/>
              <a:t>Software behavior</a:t>
            </a:r>
          </a:p>
          <a:p>
            <a:r>
              <a:rPr lang="en-US" sz="1200" noProof="1"/>
              <a:t> …..</a:t>
            </a:r>
          </a:p>
          <a:p>
            <a:endParaRPr lang="en-US" sz="1200" noProof="1"/>
          </a:p>
        </p:txBody>
      </p:sp>
      <p:sp>
        <p:nvSpPr>
          <p:cNvPr id="51" name="textruta 50">
            <a:extLst>
              <a:ext uri="{FF2B5EF4-FFF2-40B4-BE49-F238E27FC236}">
                <a16:creationId xmlns:a16="http://schemas.microsoft.com/office/drawing/2014/main" id="{34E3F0F0-CFAB-3D4D-8138-DFD10C1AED02}"/>
              </a:ext>
            </a:extLst>
          </p:cNvPr>
          <p:cNvSpPr txBox="1"/>
          <p:nvPr/>
        </p:nvSpPr>
        <p:spPr>
          <a:xfrm>
            <a:off x="10784968" y="217992"/>
            <a:ext cx="1995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1"/>
              <a:t>Settings window</a:t>
            </a:r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BDB4E37D-79D2-514F-BC90-C7EAD8CF4AC2}"/>
              </a:ext>
            </a:extLst>
          </p:cNvPr>
          <p:cNvSpPr txBox="1"/>
          <p:nvPr/>
        </p:nvSpPr>
        <p:spPr>
          <a:xfrm>
            <a:off x="2254654" y="657333"/>
            <a:ext cx="241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noProof="1"/>
              <a:t>Color codes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noProof="1">
                <a:solidFill>
                  <a:schemeClr val="accent6"/>
                </a:solidFill>
              </a:rPr>
              <a:t>absolute positions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noProof="1"/>
              <a:t>clickable : css style -webkit-app-region: no-drag;</a:t>
            </a:r>
          </a:p>
        </p:txBody>
      </p:sp>
      <p:sp>
        <p:nvSpPr>
          <p:cNvPr id="52" name="textruta 51">
            <a:extLst>
              <a:ext uri="{FF2B5EF4-FFF2-40B4-BE49-F238E27FC236}">
                <a16:creationId xmlns:a16="http://schemas.microsoft.com/office/drawing/2014/main" id="{259490A8-9BF0-184A-AAAB-986FC3C81A10}"/>
              </a:ext>
            </a:extLst>
          </p:cNvPr>
          <p:cNvSpPr txBox="1"/>
          <p:nvPr/>
        </p:nvSpPr>
        <p:spPr>
          <a:xfrm>
            <a:off x="7070273" y="717873"/>
            <a:ext cx="1111325" cy="784830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noProof="1">
                <a:solidFill>
                  <a:schemeClr val="bg1">
                    <a:lumMod val="50000"/>
                  </a:schemeClr>
                </a:solidFill>
              </a:rPr>
              <a:t>Merge (select one)</a:t>
            </a:r>
          </a:p>
          <a:p>
            <a:r>
              <a:rPr lang="en-US" sz="900" noProof="1"/>
              <a:t>master</a:t>
            </a:r>
          </a:p>
          <a:p>
            <a:r>
              <a:rPr lang="en-US" sz="900" noProof="1"/>
              <a:t>develop</a:t>
            </a:r>
          </a:p>
          <a:p>
            <a:r>
              <a:rPr lang="en-US" sz="900" noProof="1"/>
              <a:t>….</a:t>
            </a:r>
          </a:p>
          <a:p>
            <a:r>
              <a:rPr lang="en-US" sz="900" noProof="1"/>
              <a:t>CANCEL merge</a:t>
            </a:r>
          </a:p>
        </p:txBody>
      </p:sp>
      <p:cxnSp>
        <p:nvCxnSpPr>
          <p:cNvPr id="55" name="Rak pil 54">
            <a:extLst>
              <a:ext uri="{FF2B5EF4-FFF2-40B4-BE49-F238E27FC236}">
                <a16:creationId xmlns:a16="http://schemas.microsoft.com/office/drawing/2014/main" id="{5DABECF9-E44D-7C48-8E66-E4D3AA0BEF1C}"/>
              </a:ext>
            </a:extLst>
          </p:cNvPr>
          <p:cNvCxnSpPr>
            <a:cxnSpLocks/>
          </p:cNvCxnSpPr>
          <p:nvPr/>
        </p:nvCxnSpPr>
        <p:spPr>
          <a:xfrm flipV="1">
            <a:off x="6806351" y="2728354"/>
            <a:ext cx="1412911" cy="664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Rak pil 56">
            <a:extLst>
              <a:ext uri="{FF2B5EF4-FFF2-40B4-BE49-F238E27FC236}">
                <a16:creationId xmlns:a16="http://schemas.microsoft.com/office/drawing/2014/main" id="{63FD05C6-A0AF-8D47-8B05-4D073A7BA133}"/>
              </a:ext>
            </a:extLst>
          </p:cNvPr>
          <p:cNvCxnSpPr>
            <a:cxnSpLocks/>
          </p:cNvCxnSpPr>
          <p:nvPr/>
        </p:nvCxnSpPr>
        <p:spPr>
          <a:xfrm flipV="1">
            <a:off x="6286263" y="888167"/>
            <a:ext cx="784010" cy="35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ruta 60">
            <a:extLst>
              <a:ext uri="{FF2B5EF4-FFF2-40B4-BE49-F238E27FC236}">
                <a16:creationId xmlns:a16="http://schemas.microsoft.com/office/drawing/2014/main" id="{30057A64-3006-4F44-91FE-B26FA259EEC0}"/>
              </a:ext>
            </a:extLst>
          </p:cNvPr>
          <p:cNvSpPr txBox="1"/>
          <p:nvPr/>
        </p:nvSpPr>
        <p:spPr>
          <a:xfrm>
            <a:off x="4883285" y="801377"/>
            <a:ext cx="12942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1"/>
              <a:t>visible when applicable</a:t>
            </a:r>
          </a:p>
        </p:txBody>
      </p:sp>
      <p:sp>
        <p:nvSpPr>
          <p:cNvPr id="62" name="Vänster klammerparentes 61">
            <a:extLst>
              <a:ext uri="{FF2B5EF4-FFF2-40B4-BE49-F238E27FC236}">
                <a16:creationId xmlns:a16="http://schemas.microsoft.com/office/drawing/2014/main" id="{999EACD1-D19D-3942-ADFD-C4CD60A43CA4}"/>
              </a:ext>
            </a:extLst>
          </p:cNvPr>
          <p:cNvSpPr/>
          <p:nvPr/>
        </p:nvSpPr>
        <p:spPr>
          <a:xfrm rot="5400000">
            <a:off x="5512159" y="179682"/>
            <a:ext cx="84636" cy="17288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5" name="Vänster klammerparentes 64">
            <a:extLst>
              <a:ext uri="{FF2B5EF4-FFF2-40B4-BE49-F238E27FC236}">
                <a16:creationId xmlns:a16="http://schemas.microsoft.com/office/drawing/2014/main" id="{E70570DC-E271-1140-A640-E78CFEEC3EE3}"/>
              </a:ext>
            </a:extLst>
          </p:cNvPr>
          <p:cNvSpPr/>
          <p:nvPr/>
        </p:nvSpPr>
        <p:spPr>
          <a:xfrm>
            <a:off x="2463361" y="2123918"/>
            <a:ext cx="149118" cy="91205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6" name="textruta 65">
            <a:extLst>
              <a:ext uri="{FF2B5EF4-FFF2-40B4-BE49-F238E27FC236}">
                <a16:creationId xmlns:a16="http://schemas.microsoft.com/office/drawing/2014/main" id="{42A2EDEA-66A5-F649-9CD0-716F83D2C6C8}"/>
              </a:ext>
            </a:extLst>
          </p:cNvPr>
          <p:cNvSpPr txBox="1"/>
          <p:nvPr/>
        </p:nvSpPr>
        <p:spPr>
          <a:xfrm>
            <a:off x="1933389" y="2455881"/>
            <a:ext cx="5299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1"/>
              <a:t>history</a:t>
            </a:r>
          </a:p>
        </p:txBody>
      </p:sp>
      <p:sp>
        <p:nvSpPr>
          <p:cNvPr id="68" name="textruta 67">
            <a:extLst>
              <a:ext uri="{FF2B5EF4-FFF2-40B4-BE49-F238E27FC236}">
                <a16:creationId xmlns:a16="http://schemas.microsoft.com/office/drawing/2014/main" id="{9246A69F-8866-D34A-A46B-97E7E4D10783}"/>
              </a:ext>
            </a:extLst>
          </p:cNvPr>
          <p:cNvSpPr txBox="1"/>
          <p:nvPr/>
        </p:nvSpPr>
        <p:spPr>
          <a:xfrm>
            <a:off x="2584429" y="3616778"/>
            <a:ext cx="437011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noProof="1">
                <a:solidFill>
                  <a:schemeClr val="accent6"/>
                </a:solidFill>
              </a:rPr>
              <a:t>[FOLDER]    </a:t>
            </a:r>
            <a:r>
              <a:rPr lang="en-US" sz="1200" noProof="1"/>
              <a:t>Conflicts = 2 (click here to resolve)              </a:t>
            </a:r>
            <a:r>
              <a:rPr lang="en-US" sz="1200" noProof="1">
                <a:solidFill>
                  <a:schemeClr val="accent6"/>
                </a:solidFill>
              </a:rPr>
              <a:t>[SETTINGS]</a:t>
            </a:r>
          </a:p>
        </p:txBody>
      </p:sp>
      <p:sp>
        <p:nvSpPr>
          <p:cNvPr id="69" name="textruta 68">
            <a:extLst>
              <a:ext uri="{FF2B5EF4-FFF2-40B4-BE49-F238E27FC236}">
                <a16:creationId xmlns:a16="http://schemas.microsoft.com/office/drawing/2014/main" id="{703A8623-5115-D941-8C69-55D36EFB2B75}"/>
              </a:ext>
            </a:extLst>
          </p:cNvPr>
          <p:cNvSpPr txBox="1"/>
          <p:nvPr/>
        </p:nvSpPr>
        <p:spPr>
          <a:xfrm>
            <a:off x="1580565" y="3626502"/>
            <a:ext cx="10727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1"/>
              <a:t>if merge conflict :</a:t>
            </a:r>
          </a:p>
        </p:txBody>
      </p:sp>
      <p:cxnSp>
        <p:nvCxnSpPr>
          <p:cNvPr id="72" name="Rak pil 71">
            <a:extLst>
              <a:ext uri="{FF2B5EF4-FFF2-40B4-BE49-F238E27FC236}">
                <a16:creationId xmlns:a16="http://schemas.microsoft.com/office/drawing/2014/main" id="{F6A7FD06-5832-374E-A3E7-9C67655BF7B9}"/>
              </a:ext>
            </a:extLst>
          </p:cNvPr>
          <p:cNvCxnSpPr>
            <a:cxnSpLocks/>
          </p:cNvCxnSpPr>
          <p:nvPr/>
        </p:nvCxnSpPr>
        <p:spPr>
          <a:xfrm>
            <a:off x="5512780" y="3802755"/>
            <a:ext cx="2733102" cy="2300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riangel 74">
            <a:extLst>
              <a:ext uri="{FF2B5EF4-FFF2-40B4-BE49-F238E27FC236}">
                <a16:creationId xmlns:a16="http://schemas.microsoft.com/office/drawing/2014/main" id="{F899FFEA-26D7-444C-8951-452129CF953D}"/>
              </a:ext>
            </a:extLst>
          </p:cNvPr>
          <p:cNvSpPr/>
          <p:nvPr/>
        </p:nvSpPr>
        <p:spPr>
          <a:xfrm>
            <a:off x="2750838" y="2154526"/>
            <a:ext cx="134342" cy="13329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6" name="Triangel 75">
            <a:extLst>
              <a:ext uri="{FF2B5EF4-FFF2-40B4-BE49-F238E27FC236}">
                <a16:creationId xmlns:a16="http://schemas.microsoft.com/office/drawing/2014/main" id="{C7E60540-A052-FB4D-BA58-885536A92E7C}"/>
              </a:ext>
            </a:extLst>
          </p:cNvPr>
          <p:cNvSpPr/>
          <p:nvPr/>
        </p:nvSpPr>
        <p:spPr>
          <a:xfrm rot="10800000">
            <a:off x="2750107" y="2431525"/>
            <a:ext cx="134342" cy="13329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4" name="textruta 83">
            <a:extLst>
              <a:ext uri="{FF2B5EF4-FFF2-40B4-BE49-F238E27FC236}">
                <a16:creationId xmlns:a16="http://schemas.microsoft.com/office/drawing/2014/main" id="{E499DFDC-9891-684E-8C3D-196CAB4DA359}"/>
              </a:ext>
            </a:extLst>
          </p:cNvPr>
          <p:cNvSpPr txBox="1"/>
          <p:nvPr/>
        </p:nvSpPr>
        <p:spPr>
          <a:xfrm>
            <a:off x="8251726" y="6086991"/>
            <a:ext cx="4482670" cy="2308324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noProof="1"/>
              <a:t>Files with conflicts</a:t>
            </a:r>
          </a:p>
          <a:p>
            <a:endParaRPr lang="en-US" sz="1200" noProof="1"/>
          </a:p>
          <a:p>
            <a:endParaRPr lang="en-US" sz="1200" noProof="1"/>
          </a:p>
          <a:p>
            <a:r>
              <a:rPr lang="en-US" sz="1200" noProof="1"/>
              <a:t>* path   </a:t>
            </a:r>
            <a:endParaRPr lang="en-US" sz="1200" b="1" noProof="1"/>
          </a:p>
          <a:p>
            <a:r>
              <a:rPr lang="en-US" sz="1200" noProof="1"/>
              <a:t>* path   </a:t>
            </a:r>
          </a:p>
          <a:p>
            <a:endParaRPr lang="en-US" sz="1200" noProof="1"/>
          </a:p>
          <a:p>
            <a:r>
              <a:rPr lang="en-US" sz="1200" b="1" noProof="1"/>
              <a:t>Files deleted (uncheck to keep)</a:t>
            </a:r>
          </a:p>
          <a:p>
            <a:r>
              <a:rPr lang="en-US" sz="1200" noProof="1"/>
              <a:t>   [X] path   </a:t>
            </a:r>
            <a:endParaRPr lang="en-US" sz="1200" b="1" noProof="1"/>
          </a:p>
          <a:p>
            <a:r>
              <a:rPr lang="en-US" sz="1200" noProof="1"/>
              <a:t>   [X] path</a:t>
            </a:r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86" name="textruta 85">
            <a:extLst>
              <a:ext uri="{FF2B5EF4-FFF2-40B4-BE49-F238E27FC236}">
                <a16:creationId xmlns:a16="http://schemas.microsoft.com/office/drawing/2014/main" id="{FCAC1A3E-3418-5B44-AD1D-2A8624E6AF4F}"/>
              </a:ext>
            </a:extLst>
          </p:cNvPr>
          <p:cNvSpPr txBox="1"/>
          <p:nvPr/>
        </p:nvSpPr>
        <p:spPr>
          <a:xfrm>
            <a:off x="8394337" y="8102559"/>
            <a:ext cx="1088581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Conflicts Resolved</a:t>
            </a:r>
          </a:p>
        </p:txBody>
      </p:sp>
      <p:sp>
        <p:nvSpPr>
          <p:cNvPr id="89" name="textruta 88">
            <a:extLst>
              <a:ext uri="{FF2B5EF4-FFF2-40B4-BE49-F238E27FC236}">
                <a16:creationId xmlns:a16="http://schemas.microsoft.com/office/drawing/2014/main" id="{90677FC2-8B23-1848-8A43-E649B5592273}"/>
              </a:ext>
            </a:extLst>
          </p:cNvPr>
          <p:cNvSpPr txBox="1"/>
          <p:nvPr/>
        </p:nvSpPr>
        <p:spPr>
          <a:xfrm>
            <a:off x="8364521" y="6369499"/>
            <a:ext cx="787075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Resolve all</a:t>
            </a:r>
          </a:p>
        </p:txBody>
      </p:sp>
      <p:sp>
        <p:nvSpPr>
          <p:cNvPr id="90" name="textruta 89">
            <a:extLst>
              <a:ext uri="{FF2B5EF4-FFF2-40B4-BE49-F238E27FC236}">
                <a16:creationId xmlns:a16="http://schemas.microsoft.com/office/drawing/2014/main" id="{94DB4E81-4312-3143-9C6C-E85CA1CEF051}"/>
              </a:ext>
            </a:extLst>
          </p:cNvPr>
          <p:cNvSpPr txBox="1"/>
          <p:nvPr/>
        </p:nvSpPr>
        <p:spPr>
          <a:xfrm>
            <a:off x="8297317" y="6142543"/>
            <a:ext cx="4344894" cy="1015663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91" name="textruta 90">
            <a:extLst>
              <a:ext uri="{FF2B5EF4-FFF2-40B4-BE49-F238E27FC236}">
                <a16:creationId xmlns:a16="http://schemas.microsoft.com/office/drawing/2014/main" id="{60076825-F9DA-D14F-8A6E-432694E1AD0D}"/>
              </a:ext>
            </a:extLst>
          </p:cNvPr>
          <p:cNvSpPr txBox="1"/>
          <p:nvPr/>
        </p:nvSpPr>
        <p:spPr>
          <a:xfrm>
            <a:off x="8306109" y="7216009"/>
            <a:ext cx="4344895" cy="830997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96" name="textruta 95">
            <a:extLst>
              <a:ext uri="{FF2B5EF4-FFF2-40B4-BE49-F238E27FC236}">
                <a16:creationId xmlns:a16="http://schemas.microsoft.com/office/drawing/2014/main" id="{CAFCAE1D-8B93-BF4F-9BB6-F7C4F556E1C5}"/>
              </a:ext>
            </a:extLst>
          </p:cNvPr>
          <p:cNvSpPr txBox="1"/>
          <p:nvPr/>
        </p:nvSpPr>
        <p:spPr>
          <a:xfrm>
            <a:off x="11643360" y="6103570"/>
            <a:ext cx="107498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000" noProof="1"/>
              <a:t>Conflicts window</a:t>
            </a:r>
          </a:p>
        </p:txBody>
      </p:sp>
      <p:sp>
        <p:nvSpPr>
          <p:cNvPr id="100" name="textruta 99">
            <a:extLst>
              <a:ext uri="{FF2B5EF4-FFF2-40B4-BE49-F238E27FC236}">
                <a16:creationId xmlns:a16="http://schemas.microsoft.com/office/drawing/2014/main" id="{3CD649F7-CE15-F345-BB33-1ACCAC357771}"/>
              </a:ext>
            </a:extLst>
          </p:cNvPr>
          <p:cNvSpPr txBox="1"/>
          <p:nvPr/>
        </p:nvSpPr>
        <p:spPr>
          <a:xfrm>
            <a:off x="1933389" y="3253225"/>
            <a:ext cx="601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1"/>
              <a:t>normal :</a:t>
            </a:r>
          </a:p>
        </p:txBody>
      </p:sp>
      <p:grpSp>
        <p:nvGrpSpPr>
          <p:cNvPr id="121" name="Grupp 120">
            <a:extLst>
              <a:ext uri="{FF2B5EF4-FFF2-40B4-BE49-F238E27FC236}">
                <a16:creationId xmlns:a16="http://schemas.microsoft.com/office/drawing/2014/main" id="{4AF3CA24-35A6-1E42-BB7D-8BF759D4BA7D}"/>
              </a:ext>
            </a:extLst>
          </p:cNvPr>
          <p:cNvGrpSpPr/>
          <p:nvPr/>
        </p:nvGrpSpPr>
        <p:grpSpPr>
          <a:xfrm>
            <a:off x="4456426" y="7051823"/>
            <a:ext cx="3126618" cy="2052612"/>
            <a:chOff x="741272" y="5116916"/>
            <a:chExt cx="5632834" cy="3788456"/>
          </a:xfrm>
        </p:grpSpPr>
        <p:pic>
          <p:nvPicPr>
            <p:cNvPr id="106" name="Bildobjekt 105">
              <a:extLst>
                <a:ext uri="{FF2B5EF4-FFF2-40B4-BE49-F238E27FC236}">
                  <a16:creationId xmlns:a16="http://schemas.microsoft.com/office/drawing/2014/main" id="{E10740DD-2782-124E-AB8D-4ABE61F9F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272" y="5116916"/>
              <a:ext cx="4005416" cy="3788456"/>
            </a:xfrm>
            <a:prstGeom prst="rect">
              <a:avLst/>
            </a:prstGeom>
          </p:spPr>
        </p:pic>
        <p:sp>
          <p:nvSpPr>
            <p:cNvPr id="107" name="Ellips 106">
              <a:extLst>
                <a:ext uri="{FF2B5EF4-FFF2-40B4-BE49-F238E27FC236}">
                  <a16:creationId xmlns:a16="http://schemas.microsoft.com/office/drawing/2014/main" id="{0A6F6AEF-A2FD-B54B-9EB7-297EE96E3242}"/>
                </a:ext>
              </a:extLst>
            </p:cNvPr>
            <p:cNvSpPr/>
            <p:nvPr/>
          </p:nvSpPr>
          <p:spPr>
            <a:xfrm>
              <a:off x="1052011" y="6002761"/>
              <a:ext cx="155250" cy="1573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08" name="Ellips 107">
              <a:extLst>
                <a:ext uri="{FF2B5EF4-FFF2-40B4-BE49-F238E27FC236}">
                  <a16:creationId xmlns:a16="http://schemas.microsoft.com/office/drawing/2014/main" id="{0D173C7B-4BA3-6245-ADD6-F64296BDDB05}"/>
                </a:ext>
              </a:extLst>
            </p:cNvPr>
            <p:cNvSpPr/>
            <p:nvPr/>
          </p:nvSpPr>
          <p:spPr>
            <a:xfrm>
              <a:off x="3461344" y="6261811"/>
              <a:ext cx="155250" cy="15735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09" name="Ellips 108">
              <a:extLst>
                <a:ext uri="{FF2B5EF4-FFF2-40B4-BE49-F238E27FC236}">
                  <a16:creationId xmlns:a16="http://schemas.microsoft.com/office/drawing/2014/main" id="{475BDECB-B558-5544-91FD-415CE14FEAFC}"/>
                </a:ext>
              </a:extLst>
            </p:cNvPr>
            <p:cNvSpPr/>
            <p:nvPr/>
          </p:nvSpPr>
          <p:spPr>
            <a:xfrm>
              <a:off x="2197941" y="6002761"/>
              <a:ext cx="155250" cy="1573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10" name="Ellips 109">
              <a:extLst>
                <a:ext uri="{FF2B5EF4-FFF2-40B4-BE49-F238E27FC236}">
                  <a16:creationId xmlns:a16="http://schemas.microsoft.com/office/drawing/2014/main" id="{1240951E-5D8A-284E-AC31-7AA462AAF85E}"/>
                </a:ext>
              </a:extLst>
            </p:cNvPr>
            <p:cNvSpPr/>
            <p:nvPr/>
          </p:nvSpPr>
          <p:spPr>
            <a:xfrm>
              <a:off x="4947396" y="5986724"/>
              <a:ext cx="155250" cy="1573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11" name="textruta 110">
              <a:extLst>
                <a:ext uri="{FF2B5EF4-FFF2-40B4-BE49-F238E27FC236}">
                  <a16:creationId xmlns:a16="http://schemas.microsoft.com/office/drawing/2014/main" id="{C4A57F5D-02E7-0E47-A363-6A67803DCD19}"/>
                </a:ext>
              </a:extLst>
            </p:cNvPr>
            <p:cNvSpPr txBox="1"/>
            <p:nvPr/>
          </p:nvSpPr>
          <p:spPr>
            <a:xfrm>
              <a:off x="5088400" y="5877787"/>
              <a:ext cx="1285706" cy="3976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noProof="1"/>
                <a:t>Store button</a:t>
              </a:r>
            </a:p>
          </p:txBody>
        </p:sp>
        <p:sp>
          <p:nvSpPr>
            <p:cNvPr id="112" name="Ellips 111">
              <a:extLst>
                <a:ext uri="{FF2B5EF4-FFF2-40B4-BE49-F238E27FC236}">
                  <a16:creationId xmlns:a16="http://schemas.microsoft.com/office/drawing/2014/main" id="{41ED2AB3-C540-E549-B8B3-34EEC9991A4A}"/>
                </a:ext>
              </a:extLst>
            </p:cNvPr>
            <p:cNvSpPr/>
            <p:nvPr/>
          </p:nvSpPr>
          <p:spPr>
            <a:xfrm>
              <a:off x="4959450" y="6278070"/>
              <a:ext cx="155250" cy="15735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13" name="textruta 112">
              <a:extLst>
                <a:ext uri="{FF2B5EF4-FFF2-40B4-BE49-F238E27FC236}">
                  <a16:creationId xmlns:a16="http://schemas.microsoft.com/office/drawing/2014/main" id="{E9A49247-113F-9645-BC7F-9F320DE5528C}"/>
                </a:ext>
              </a:extLst>
            </p:cNvPr>
            <p:cNvSpPr txBox="1"/>
            <p:nvPr/>
          </p:nvSpPr>
          <p:spPr>
            <a:xfrm>
              <a:off x="5094596" y="6123776"/>
              <a:ext cx="1262603" cy="454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noProof="1"/>
                <a:t>Push</a:t>
              </a:r>
              <a:r>
                <a:rPr lang="en-US" sz="1000" noProof="1"/>
                <a:t> </a:t>
              </a:r>
              <a:r>
                <a:rPr lang="en-US" sz="800" noProof="1"/>
                <a:t>button</a:t>
              </a:r>
            </a:p>
          </p:txBody>
        </p:sp>
        <p:sp>
          <p:nvSpPr>
            <p:cNvPr id="114" name="Ellips 113">
              <a:extLst>
                <a:ext uri="{FF2B5EF4-FFF2-40B4-BE49-F238E27FC236}">
                  <a16:creationId xmlns:a16="http://schemas.microsoft.com/office/drawing/2014/main" id="{1FA6B467-3F98-7641-9840-4F2726C639A3}"/>
                </a:ext>
              </a:extLst>
            </p:cNvPr>
            <p:cNvSpPr/>
            <p:nvPr/>
          </p:nvSpPr>
          <p:spPr>
            <a:xfrm>
              <a:off x="3289888" y="6270463"/>
              <a:ext cx="155250" cy="15735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15" name="Ellips 114">
              <a:extLst>
                <a:ext uri="{FF2B5EF4-FFF2-40B4-BE49-F238E27FC236}">
                  <a16:creationId xmlns:a16="http://schemas.microsoft.com/office/drawing/2014/main" id="{79D570DB-1BE6-0042-9DB0-D0844CC06C7E}"/>
                </a:ext>
              </a:extLst>
            </p:cNvPr>
            <p:cNvSpPr/>
            <p:nvPr/>
          </p:nvSpPr>
          <p:spPr>
            <a:xfrm>
              <a:off x="4284698" y="7222961"/>
              <a:ext cx="155250" cy="15735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16" name="Ellips 115">
              <a:extLst>
                <a:ext uri="{FF2B5EF4-FFF2-40B4-BE49-F238E27FC236}">
                  <a16:creationId xmlns:a16="http://schemas.microsoft.com/office/drawing/2014/main" id="{8F83988F-0852-4145-A2D9-16E2D71B33E5}"/>
                </a:ext>
              </a:extLst>
            </p:cNvPr>
            <p:cNvSpPr/>
            <p:nvPr/>
          </p:nvSpPr>
          <p:spPr>
            <a:xfrm>
              <a:off x="4974836" y="7221818"/>
              <a:ext cx="155250" cy="15735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17" name="textruta 116">
              <a:extLst>
                <a:ext uri="{FF2B5EF4-FFF2-40B4-BE49-F238E27FC236}">
                  <a16:creationId xmlns:a16="http://schemas.microsoft.com/office/drawing/2014/main" id="{E2AAE464-F8D3-164A-AEEE-2CDA35BFEE37}"/>
                </a:ext>
              </a:extLst>
            </p:cNvPr>
            <p:cNvSpPr txBox="1"/>
            <p:nvPr/>
          </p:nvSpPr>
          <p:spPr>
            <a:xfrm>
              <a:off x="5185384" y="7095240"/>
              <a:ext cx="1167301" cy="3976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noProof="1"/>
                <a:t>Pull button</a:t>
              </a:r>
            </a:p>
          </p:txBody>
        </p:sp>
        <p:sp>
          <p:nvSpPr>
            <p:cNvPr id="118" name="textruta 117">
              <a:extLst>
                <a:ext uri="{FF2B5EF4-FFF2-40B4-BE49-F238E27FC236}">
                  <a16:creationId xmlns:a16="http://schemas.microsoft.com/office/drawing/2014/main" id="{921FC016-022D-EF4D-8D25-A4C63A1D19AB}"/>
                </a:ext>
              </a:extLst>
            </p:cNvPr>
            <p:cNvSpPr txBox="1"/>
            <p:nvPr/>
          </p:nvSpPr>
          <p:spPr>
            <a:xfrm>
              <a:off x="5195844" y="7334034"/>
              <a:ext cx="1135534" cy="454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noProof="1"/>
                <a:t>Fetch</a:t>
              </a:r>
              <a:r>
                <a:rPr lang="en-US" sz="1000" noProof="1"/>
                <a:t> </a:t>
              </a:r>
              <a:r>
                <a:rPr lang="en-US" sz="800" noProof="1"/>
                <a:t>loop</a:t>
              </a:r>
            </a:p>
          </p:txBody>
        </p:sp>
        <p:sp>
          <p:nvSpPr>
            <p:cNvPr id="119" name="Ellips 118">
              <a:extLst>
                <a:ext uri="{FF2B5EF4-FFF2-40B4-BE49-F238E27FC236}">
                  <a16:creationId xmlns:a16="http://schemas.microsoft.com/office/drawing/2014/main" id="{464758A5-54F1-BE4B-BABA-0FC2D5EAE079}"/>
                </a:ext>
              </a:extLst>
            </p:cNvPr>
            <p:cNvSpPr/>
            <p:nvPr/>
          </p:nvSpPr>
          <p:spPr>
            <a:xfrm>
              <a:off x="4289655" y="7481845"/>
              <a:ext cx="155250" cy="157356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  <p:sp>
          <p:nvSpPr>
            <p:cNvPr id="120" name="Ellips 119">
              <a:extLst>
                <a:ext uri="{FF2B5EF4-FFF2-40B4-BE49-F238E27FC236}">
                  <a16:creationId xmlns:a16="http://schemas.microsoft.com/office/drawing/2014/main" id="{94900532-DCDF-0047-BFF5-4F6BCFF5EFB1}"/>
                </a:ext>
              </a:extLst>
            </p:cNvPr>
            <p:cNvSpPr/>
            <p:nvPr/>
          </p:nvSpPr>
          <p:spPr>
            <a:xfrm>
              <a:off x="4974836" y="7512604"/>
              <a:ext cx="155250" cy="157356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sp>
        <p:nvSpPr>
          <p:cNvPr id="122" name="Rektangel 121">
            <a:extLst>
              <a:ext uri="{FF2B5EF4-FFF2-40B4-BE49-F238E27FC236}">
                <a16:creationId xmlns:a16="http://schemas.microsoft.com/office/drawing/2014/main" id="{5CF48DEF-1264-0548-861D-79D53BAC25B0}"/>
              </a:ext>
            </a:extLst>
          </p:cNvPr>
          <p:cNvSpPr/>
          <p:nvPr/>
        </p:nvSpPr>
        <p:spPr>
          <a:xfrm>
            <a:off x="4022842" y="9194411"/>
            <a:ext cx="64008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noProof="1"/>
              <a:t>https://stackoverflow.com/questions/3689838/whats-the-difference-between-head-working-tree-and-index-in-git</a:t>
            </a:r>
          </a:p>
        </p:txBody>
      </p:sp>
      <p:sp>
        <p:nvSpPr>
          <p:cNvPr id="70" name="textruta 69">
            <a:extLst>
              <a:ext uri="{FF2B5EF4-FFF2-40B4-BE49-F238E27FC236}">
                <a16:creationId xmlns:a16="http://schemas.microsoft.com/office/drawing/2014/main" id="{2FA40AA3-FC63-0748-9B37-DA170D03780B}"/>
              </a:ext>
            </a:extLst>
          </p:cNvPr>
          <p:cNvSpPr txBox="1"/>
          <p:nvPr/>
        </p:nvSpPr>
        <p:spPr>
          <a:xfrm>
            <a:off x="8251726" y="4916703"/>
            <a:ext cx="4528261" cy="1015663"/>
          </a:xfrm>
          <a:prstGeom prst="rect">
            <a:avLst/>
          </a:prstGeom>
          <a:noFill/>
          <a:ln w="222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noProof="1"/>
              <a:t>Files that will be stored</a:t>
            </a:r>
          </a:p>
          <a:p>
            <a:r>
              <a:rPr lang="en-US" sz="1200" noProof="1"/>
              <a:t>   [X] path     (diff) (restore)</a:t>
            </a:r>
            <a:endParaRPr lang="en-US" sz="1200" b="1" noProof="1"/>
          </a:p>
          <a:p>
            <a:r>
              <a:rPr lang="en-US" sz="1200" noProof="1"/>
              <a:t>   [X] path     (diff) (restore)</a:t>
            </a:r>
            <a:endParaRPr lang="en-US" sz="1200" b="1" noProof="1"/>
          </a:p>
          <a:p>
            <a:endParaRPr lang="en-US" sz="1200" noProof="1"/>
          </a:p>
          <a:p>
            <a:endParaRPr lang="en-US" sz="1200" noProof="1"/>
          </a:p>
        </p:txBody>
      </p:sp>
      <p:sp>
        <p:nvSpPr>
          <p:cNvPr id="71" name="textruta 70">
            <a:extLst>
              <a:ext uri="{FF2B5EF4-FFF2-40B4-BE49-F238E27FC236}">
                <a16:creationId xmlns:a16="http://schemas.microsoft.com/office/drawing/2014/main" id="{42AF40C2-B9CB-ED4F-8AC7-F633F9D9F6CC}"/>
              </a:ext>
            </a:extLst>
          </p:cNvPr>
          <p:cNvSpPr txBox="1"/>
          <p:nvPr/>
        </p:nvSpPr>
        <p:spPr>
          <a:xfrm>
            <a:off x="8378197" y="5636918"/>
            <a:ext cx="721899" cy="230832"/>
          </a:xfrm>
          <a:prstGeom prst="rect">
            <a:avLst/>
          </a:prstGeom>
          <a:solidFill>
            <a:schemeClr val="bg2"/>
          </a:solidFill>
          <a:ln w="22225" cmpd="thinThick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noProof="1"/>
              <a:t>Select</a:t>
            </a:r>
          </a:p>
        </p:txBody>
      </p:sp>
      <p:sp>
        <p:nvSpPr>
          <p:cNvPr id="78" name="textruta 77">
            <a:extLst>
              <a:ext uri="{FF2B5EF4-FFF2-40B4-BE49-F238E27FC236}">
                <a16:creationId xmlns:a16="http://schemas.microsoft.com/office/drawing/2014/main" id="{576C2A89-2F7B-E148-A154-CDE20E0C9EE7}"/>
              </a:ext>
            </a:extLst>
          </p:cNvPr>
          <p:cNvSpPr txBox="1"/>
          <p:nvPr/>
        </p:nvSpPr>
        <p:spPr>
          <a:xfrm>
            <a:off x="11334300" y="4889482"/>
            <a:ext cx="144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1"/>
              <a:t>Files window</a:t>
            </a:r>
          </a:p>
        </p:txBody>
      </p:sp>
      <p:cxnSp>
        <p:nvCxnSpPr>
          <p:cNvPr id="79" name="Rak pil 78">
            <a:extLst>
              <a:ext uri="{FF2B5EF4-FFF2-40B4-BE49-F238E27FC236}">
                <a16:creationId xmlns:a16="http://schemas.microsoft.com/office/drawing/2014/main" id="{BE65776F-B258-9848-AC7C-DDB403ACE6E4}"/>
              </a:ext>
            </a:extLst>
          </p:cNvPr>
          <p:cNvCxnSpPr>
            <a:cxnSpLocks/>
          </p:cNvCxnSpPr>
          <p:nvPr/>
        </p:nvCxnSpPr>
        <p:spPr>
          <a:xfrm>
            <a:off x="5512780" y="3367036"/>
            <a:ext cx="2703419" cy="152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ruta 13">
            <a:extLst>
              <a:ext uri="{FF2B5EF4-FFF2-40B4-BE49-F238E27FC236}">
                <a16:creationId xmlns:a16="http://schemas.microsoft.com/office/drawing/2014/main" id="{2E50271E-D400-274F-8F0D-30B9AF8F5D7D}"/>
              </a:ext>
            </a:extLst>
          </p:cNvPr>
          <p:cNvSpPr txBox="1"/>
          <p:nvPr/>
        </p:nvSpPr>
        <p:spPr>
          <a:xfrm>
            <a:off x="10042451" y="5418179"/>
            <a:ext cx="2723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1">
                <a:solidFill>
                  <a:srgbClr val="FF0000"/>
                </a:solidFill>
              </a:rPr>
              <a:t>Unchecked are files that are skipped in next STORE</a:t>
            </a:r>
          </a:p>
          <a:p>
            <a:r>
              <a:rPr lang="en-US" sz="800" noProof="1">
                <a:solidFill>
                  <a:srgbClr val="FF0000"/>
                </a:solidFill>
              </a:rPr>
              <a:t>NOTE : Different to showing staged files, as other clients do!!</a:t>
            </a:r>
          </a:p>
        </p:txBody>
      </p:sp>
      <p:sp>
        <p:nvSpPr>
          <p:cNvPr id="80" name="Rektangel 79">
            <a:extLst>
              <a:ext uri="{FF2B5EF4-FFF2-40B4-BE49-F238E27FC236}">
                <a16:creationId xmlns:a16="http://schemas.microsoft.com/office/drawing/2014/main" id="{D0562D24-ACB3-F24B-A40F-5232B5654C8A}"/>
              </a:ext>
            </a:extLst>
          </p:cNvPr>
          <p:cNvSpPr/>
          <p:nvPr/>
        </p:nvSpPr>
        <p:spPr>
          <a:xfrm>
            <a:off x="8442304" y="3928495"/>
            <a:ext cx="427603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dirty="0"/>
              <a:t>SETTINGS : </a:t>
            </a:r>
          </a:p>
          <a:p>
            <a:r>
              <a:rPr lang="en-US" sz="800" dirty="0"/>
              <a:t>To implement a new setting that affects the </a:t>
            </a:r>
            <a:r>
              <a:rPr lang="en-US" sz="800" dirty="0" err="1"/>
              <a:t>gui</a:t>
            </a:r>
            <a:r>
              <a:rPr lang="en-US" sz="800" dirty="0"/>
              <a:t>, add code to these places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app.js</a:t>
            </a:r>
            <a:r>
              <a:rPr lang="en-US" sz="800" dirty="0"/>
              <a:t>/</a:t>
            </a:r>
            <a:r>
              <a:rPr lang="en-US" sz="800" dirty="0" err="1"/>
              <a:t>updateWithNewSettings</a:t>
            </a:r>
            <a:r>
              <a:rPr lang="en-US" sz="800" dirty="0"/>
              <a:t> (this function)   -- applies directly after settings window is left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app.js</a:t>
            </a:r>
            <a:r>
              <a:rPr lang="en-US" sz="800" dirty="0"/>
              <a:t>/</a:t>
            </a:r>
            <a:r>
              <a:rPr lang="en-US" sz="800" dirty="0" err="1"/>
              <a:t>loadSettings</a:t>
            </a:r>
            <a:r>
              <a:rPr lang="en-US" sz="800" dirty="0"/>
              <a:t>                           -- applies when starting </a:t>
            </a:r>
            <a:r>
              <a:rPr lang="en-US" sz="800" dirty="0" err="1"/>
              <a:t>app.js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settings.js</a:t>
            </a:r>
            <a:r>
              <a:rPr lang="en-US" sz="800" dirty="0"/>
              <a:t>/</a:t>
            </a:r>
            <a:r>
              <a:rPr lang="en-US" sz="800" dirty="0" err="1"/>
              <a:t>injectIntoSettingsJs</a:t>
            </a:r>
            <a:r>
              <a:rPr lang="en-US" sz="800" dirty="0"/>
              <a:t>       -- correctly sets the parameter in the </a:t>
            </a:r>
            <a:r>
              <a:rPr lang="en-US" sz="800" dirty="0" err="1"/>
              <a:t>settings.html</a:t>
            </a:r>
            <a:r>
              <a:rPr lang="en-US" sz="800" dirty="0"/>
              <a:t> 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 err="1"/>
              <a:t>settings.html</a:t>
            </a:r>
            <a:r>
              <a:rPr lang="en-US" sz="800" dirty="0"/>
              <a:t>                                      -- where the form element for the setting is shown</a:t>
            </a:r>
          </a:p>
        </p:txBody>
      </p:sp>
      <p:sp>
        <p:nvSpPr>
          <p:cNvPr id="73" name="Rektangel 72">
            <a:extLst>
              <a:ext uri="{FF2B5EF4-FFF2-40B4-BE49-F238E27FC236}">
                <a16:creationId xmlns:a16="http://schemas.microsoft.com/office/drawing/2014/main" id="{7E1FCB8D-6087-5645-AC64-612B773440DC}"/>
              </a:ext>
            </a:extLst>
          </p:cNvPr>
          <p:cNvSpPr/>
          <p:nvPr/>
        </p:nvSpPr>
        <p:spPr>
          <a:xfrm>
            <a:off x="191906" y="8315161"/>
            <a:ext cx="325227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HTML dialogs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window color : </a:t>
            </a:r>
            <a:r>
              <a:rPr lang="en-US" sz="800" noProof="1">
                <a:solidFill>
                  <a:srgbClr val="FF0000"/>
                </a:solidFill>
              </a:rPr>
              <a:t>red</a:t>
            </a:r>
            <a:r>
              <a:rPr lang="en-US" sz="800" noProof="1">
                <a:solidFill>
                  <a:schemeClr val="accent1"/>
                </a:solidFill>
              </a:rPr>
              <a:t> </a:t>
            </a:r>
            <a:r>
              <a:rPr lang="en-US" sz="800" noProof="1">
                <a:solidFill>
                  <a:srgbClr val="FF0000"/>
                </a:solidFill>
              </a:rPr>
              <a:t>warning</a:t>
            </a:r>
            <a:r>
              <a:rPr lang="en-US" sz="800" noProof="1">
                <a:solidFill>
                  <a:schemeClr val="accent1"/>
                </a:solidFill>
              </a:rPr>
              <a:t>,</a:t>
            </a:r>
            <a:r>
              <a:rPr lang="en-US" sz="800" noProof="1">
                <a:solidFill>
                  <a:schemeClr val="accent4"/>
                </a:solidFill>
              </a:rPr>
              <a:t> yellow normal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Use :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show : document.getElementById(id).showModal();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[Cancel] button just closes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[Other buttons]  _callback(‘mycallbackname’,event) </a:t>
            </a:r>
            <a:br>
              <a:rPr lang="en-US" sz="800" noProof="1"/>
            </a:br>
            <a:r>
              <a:rPr lang="en-US" sz="800" noProof="1"/>
              <a:t>event can be info needed for callback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_callback switch-statement : case ‘mycallbackname’</a:t>
            </a:r>
          </a:p>
        </p:txBody>
      </p:sp>
      <p:sp>
        <p:nvSpPr>
          <p:cNvPr id="81" name="textruta 80">
            <a:extLst>
              <a:ext uri="{FF2B5EF4-FFF2-40B4-BE49-F238E27FC236}">
                <a16:creationId xmlns:a16="http://schemas.microsoft.com/office/drawing/2014/main" id="{9F4AFC71-1FF7-1F4C-91E0-7F8767FB7C09}"/>
              </a:ext>
            </a:extLst>
          </p:cNvPr>
          <p:cNvSpPr txBox="1"/>
          <p:nvPr/>
        </p:nvSpPr>
        <p:spPr>
          <a:xfrm>
            <a:off x="10035298" y="5081059"/>
            <a:ext cx="20056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1">
                <a:solidFill>
                  <a:srgbClr val="FF0000"/>
                </a:solidFill>
              </a:rPr>
              <a:t>diff calls pragma-merge or external diff tool</a:t>
            </a:r>
          </a:p>
        </p:txBody>
      </p:sp>
      <p:sp>
        <p:nvSpPr>
          <p:cNvPr id="82" name="textruta 81">
            <a:extLst>
              <a:ext uri="{FF2B5EF4-FFF2-40B4-BE49-F238E27FC236}">
                <a16:creationId xmlns:a16="http://schemas.microsoft.com/office/drawing/2014/main" id="{5C63B67E-6BB1-D948-BC29-C9B881A89A96}"/>
              </a:ext>
            </a:extLst>
          </p:cNvPr>
          <p:cNvSpPr txBox="1"/>
          <p:nvPr/>
        </p:nvSpPr>
        <p:spPr>
          <a:xfrm>
            <a:off x="9526514" y="6384887"/>
            <a:ext cx="30652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1">
                <a:solidFill>
                  <a:srgbClr val="FF0000"/>
                </a:solidFill>
              </a:rPr>
              <a:t>Resolve all calls pragma-merge or external diff tool) one file at a time</a:t>
            </a:r>
          </a:p>
        </p:txBody>
      </p:sp>
      <p:sp>
        <p:nvSpPr>
          <p:cNvPr id="83" name="textruta 82">
            <a:extLst>
              <a:ext uri="{FF2B5EF4-FFF2-40B4-BE49-F238E27FC236}">
                <a16:creationId xmlns:a16="http://schemas.microsoft.com/office/drawing/2014/main" id="{BE998503-4708-F646-A62B-994555D78A21}"/>
              </a:ext>
            </a:extLst>
          </p:cNvPr>
          <p:cNvSpPr txBox="1"/>
          <p:nvPr/>
        </p:nvSpPr>
        <p:spPr>
          <a:xfrm>
            <a:off x="10175277" y="3367036"/>
            <a:ext cx="22028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noProof="1">
                <a:solidFill>
                  <a:srgbClr val="FF0000"/>
                </a:solidFill>
              </a:rPr>
              <a:t>external / internal diff/merge tools defined here</a:t>
            </a:r>
          </a:p>
        </p:txBody>
      </p:sp>
      <p:grpSp>
        <p:nvGrpSpPr>
          <p:cNvPr id="5" name="Grupp 4">
            <a:extLst>
              <a:ext uri="{FF2B5EF4-FFF2-40B4-BE49-F238E27FC236}">
                <a16:creationId xmlns:a16="http://schemas.microsoft.com/office/drawing/2014/main" id="{8734FBB6-3367-3A46-891D-BBE465D200DF}"/>
              </a:ext>
            </a:extLst>
          </p:cNvPr>
          <p:cNvGrpSpPr/>
          <p:nvPr/>
        </p:nvGrpSpPr>
        <p:grpSpPr>
          <a:xfrm rot="1962301" flipH="1">
            <a:off x="2735500" y="2783135"/>
            <a:ext cx="180188" cy="266984"/>
            <a:chOff x="2694364" y="2277289"/>
            <a:chExt cx="203501" cy="373562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D1308872-C960-DA4B-93BD-9EFFAF41E261}"/>
                </a:ext>
              </a:extLst>
            </p:cNvPr>
            <p:cNvSpPr/>
            <p:nvPr/>
          </p:nvSpPr>
          <p:spPr>
            <a:xfrm>
              <a:off x="2781443" y="2469296"/>
              <a:ext cx="45719" cy="1815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" name="Ellips 1">
              <a:extLst>
                <a:ext uri="{FF2B5EF4-FFF2-40B4-BE49-F238E27FC236}">
                  <a16:creationId xmlns:a16="http://schemas.microsoft.com/office/drawing/2014/main" id="{E42EC357-EB15-CB4C-9A67-9BBB648C0A53}"/>
                </a:ext>
              </a:extLst>
            </p:cNvPr>
            <p:cNvSpPr/>
            <p:nvPr/>
          </p:nvSpPr>
          <p:spPr>
            <a:xfrm>
              <a:off x="2694364" y="2277289"/>
              <a:ext cx="203501" cy="239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87245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69E32657-B446-F442-8E7A-BE7ED2F83425}"/>
              </a:ext>
            </a:extLst>
          </p:cNvPr>
          <p:cNvSpPr txBox="1"/>
          <p:nvPr/>
        </p:nvSpPr>
        <p:spPr>
          <a:xfrm>
            <a:off x="124203" y="60782"/>
            <a:ext cx="25775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Internals 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CA86161-4F1A-7440-B62E-4DFF146CC2A4}"/>
              </a:ext>
            </a:extLst>
          </p:cNvPr>
          <p:cNvSpPr/>
          <p:nvPr/>
        </p:nvSpPr>
        <p:spPr>
          <a:xfrm>
            <a:off x="3927705" y="1456437"/>
            <a:ext cx="4303640" cy="21852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extending BranchSummaryResult from Simple-git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Standard fields from  BranchSummaryResult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showing change, add, delete, rename etc </a:t>
            </a:r>
            <a:endParaRPr lang="en-US" sz="800" b="1" noProof="1"/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New fields to extended  BranchSummaryResult.branches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BranchSummaryResult.branches.show (tells which branch to show, local or remotes/origin)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BranchSummaryResult.local (local branches)</a:t>
            </a:r>
            <a:endParaRPr lang="en-US" sz="800" b="1" noProof="1"/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Remote branches are cached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cachedBranchList (which is updated by calling cacheBranchList() from places expecting changes in branches to appear)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Windows10 garbage collection workaround for branch contextual menus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cachedBranchMenu, workaround_store_submenus  (keep reference to latest contextual menu items)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4EEBFA08-D850-9242-A011-F1FAB7FACE6A}"/>
              </a:ext>
            </a:extLst>
          </p:cNvPr>
          <p:cNvSpPr txBox="1"/>
          <p:nvPr/>
        </p:nvSpPr>
        <p:spPr>
          <a:xfrm>
            <a:off x="3868008" y="891779"/>
            <a:ext cx="1788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branches list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1B245C61-BBF3-D240-866D-DF3F7175FAD0}"/>
              </a:ext>
            </a:extLst>
          </p:cNvPr>
          <p:cNvSpPr/>
          <p:nvPr/>
        </p:nvSpPr>
        <p:spPr>
          <a:xfrm>
            <a:off x="312320" y="1456437"/>
            <a:ext cx="3274288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Global storage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state</a:t>
            </a:r>
            <a:r>
              <a:rPr lang="en-US" sz="800" noProof="1"/>
              <a:t> (same as saved settings)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.repos = array of repo info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.repoNumber  = current repo in  state.repos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settings from settings menu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localState </a:t>
            </a:r>
            <a:r>
              <a:rPr lang="en-US" sz="800" noProof="1"/>
              <a:t>(transient info)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.branchNumber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.mode (storage for _setMode(mode) 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flags to show if other windows are open (true for open) :</a:t>
            </a:r>
            <a:br>
              <a:rPr lang="en-US" sz="800" noProof="1"/>
            </a:br>
            <a:r>
              <a:rPr lang="en-US" sz="800" noProof="1"/>
              <a:t>.settings .conflictsWindow .fileListWindow .aboutWindow .notesWindow .graphWindow .helpWindow</a:t>
            </a:r>
            <a:br>
              <a:rPr lang="en-US" sz="800" noProof="1"/>
            </a:br>
            <a:r>
              <a:rPr lang="en-US" sz="800" noProof="1"/>
              <a:t>(true if settings window open)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.unstaged (stores the files de-selected from staging in file-list)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.historyNumber (-1 if not browsing history)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.historyHash (hash of commit)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.historyString (descriptive text for messsage window)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.history_status_data (used in listChanged.js – showing file list)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.pinnedCommit (history compare to pinned, instead of) previous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selectedDiv, pinnedDiv (for graph window state)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.dark (true if dark mode, false if light mode)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 helpWindow, .settings, . fileListWindow, … </a:t>
            </a:r>
            <a:br>
              <a:rPr lang="en-US" sz="800" noProof="1"/>
            </a:br>
            <a:r>
              <a:rPr lang="en-US" sz="800" noProof="1"/>
              <a:t>(true if open, false if closed – used to avoid duplicate windows)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6427A213-23F4-4C40-BE44-F926E14C6087}"/>
              </a:ext>
            </a:extLst>
          </p:cNvPr>
          <p:cNvSpPr txBox="1"/>
          <p:nvPr/>
        </p:nvSpPr>
        <p:spPr>
          <a:xfrm>
            <a:off x="204102" y="941771"/>
            <a:ext cx="1854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State storage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CE8B2E74-8990-CB41-9430-DC7F5B3801AC}"/>
              </a:ext>
            </a:extLst>
          </p:cNvPr>
          <p:cNvSpPr/>
          <p:nvPr/>
        </p:nvSpPr>
        <p:spPr>
          <a:xfrm>
            <a:off x="3927705" y="4333821"/>
            <a:ext cx="4303640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Using git Notes to store the branch name. The name space “branchname” is used.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gitAddCommitAndPush : </a:t>
            </a:r>
            <a:r>
              <a:rPr lang="en-US" sz="800" noProof="1"/>
              <a:t>stores the branchname on commit, and pushes to remote</a:t>
            </a:r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gitFetch : </a:t>
            </a:r>
            <a:r>
              <a:rPr lang="en-US" sz="800" noProof="1"/>
              <a:t>reads branchname notes from remote</a:t>
            </a:r>
            <a:endParaRPr lang="en-US" sz="800" b="1" noProof="1"/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graph.html </a:t>
            </a:r>
            <a:r>
              <a:rPr lang="en-US" sz="800" noProof="1"/>
              <a:t>when a note exists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Assigns a color throuth the Map ‘branchNames’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The same color will be assigned to the same branch (because of Map)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One-time creation of color node-images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New node colors are based on images/circle_black.png </a:t>
            </a:r>
            <a:br>
              <a:rPr lang="en-US" sz="800" noProof="1"/>
            </a:br>
            <a:r>
              <a:rPr lang="en-US" sz="800" noProof="1"/>
              <a:t>using the script ‘images/circle_colors/colorize.bash’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graph.js  ‘colorImageNameDefinitions‘ is manually updated with the list printed from script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endParaRPr lang="en-US" sz="800" noProof="1"/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98E71801-5CF6-4A4E-881F-6B00886CB210}"/>
              </a:ext>
            </a:extLst>
          </p:cNvPr>
          <p:cNvSpPr txBox="1"/>
          <p:nvPr/>
        </p:nvSpPr>
        <p:spPr>
          <a:xfrm>
            <a:off x="3868008" y="3769163"/>
            <a:ext cx="4208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remember branch from commit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5AB00DB-49E9-2542-9D42-92C2A0D2C7F7}"/>
              </a:ext>
            </a:extLst>
          </p:cNvPr>
          <p:cNvSpPr/>
          <p:nvPr/>
        </p:nvSpPr>
        <p:spPr>
          <a:xfrm>
            <a:off x="8635326" y="1456437"/>
            <a:ext cx="3576339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Mechanism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window.onload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localState.LATEST_RELEASE = getLatestRelease()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localState.LATEST_RELEASE  is compared to version in package.json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downloadNewVersionDialog() if later version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downloadNewVersionDialog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populates and shows newVersionDetectedInputDialog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user can “Download” or “Ignore now”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user can skip this version (checkbox) – no more questions until new version is available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returns without showing dialog if version should be skipped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shows download folder and instructions on how to install if “Downloa” is clicked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download folder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is found through ‘downloads-folder’ node_module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fallback if not allowed (some PC policies prohibit reading registry), use</a:t>
            </a:r>
            <a:br>
              <a:rPr lang="en-US" sz="800" noProof="1"/>
            </a:br>
            <a:r>
              <a:rPr lang="en-US" sz="800" noProof="1"/>
              <a:t>process.env.USERPROFILE + pathsep + 'Downloads' </a:t>
            </a:r>
            <a:br>
              <a:rPr lang="en-US" sz="800" noProof="1"/>
            </a:br>
            <a:endParaRPr lang="en-US" sz="800" noProof="1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794ADBBB-5122-D94B-BCD6-6BAE745B2BCA}"/>
              </a:ext>
            </a:extLst>
          </p:cNvPr>
          <p:cNvSpPr txBox="1"/>
          <p:nvPr/>
        </p:nvSpPr>
        <p:spPr>
          <a:xfrm>
            <a:off x="8635327" y="891779"/>
            <a:ext cx="2460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Software upgrade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B3D41706-AFF5-3FE1-7700-C30936245AAB}"/>
              </a:ext>
            </a:extLst>
          </p:cNvPr>
          <p:cNvSpPr txBox="1"/>
          <p:nvPr/>
        </p:nvSpPr>
        <p:spPr>
          <a:xfrm>
            <a:off x="220263" y="4547929"/>
            <a:ext cx="2126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Git status_data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A6CAFC24-DC56-91B6-0869-19AA93CE56A5}"/>
              </a:ext>
            </a:extLst>
          </p:cNvPr>
          <p:cNvSpPr/>
          <p:nvPr/>
        </p:nvSpPr>
        <p:spPr>
          <a:xfrm>
            <a:off x="312320" y="5013768"/>
            <a:ext cx="3372291" cy="169277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status_data from Simple-git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Standard fields from  gitStatus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showing change, add, delete, rename etc 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Some fields are emulated gitShowHistorical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additionally, the order of the commmits may be reversed when pinnedCommit is compared to current commit. This is stored in status_data.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.reversedOrder  = false;   if commit1 is earlier than commit2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.reversedOrder  = true;   if commit1 is later than commit2</a:t>
            </a:r>
          </a:p>
          <a:p>
            <a:pPr marL="152550" lvl="1"/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</p:txBody>
      </p:sp>
    </p:spTree>
    <p:extLst>
      <p:ext uri="{BB962C8B-B14F-4D97-AF65-F5344CB8AC3E}">
        <p14:creationId xmlns:p14="http://schemas.microsoft.com/office/powerpoint/2010/main" val="136682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83E1DA8D-DE72-7249-821E-88B0B328518E}"/>
              </a:ext>
            </a:extLst>
          </p:cNvPr>
          <p:cNvSpPr txBox="1"/>
          <p:nvPr/>
        </p:nvSpPr>
        <p:spPr>
          <a:xfrm>
            <a:off x="416902" y="122259"/>
            <a:ext cx="38046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Main Window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39AA015C-8BF8-B04E-A7BD-D1FFFF1FCC82}"/>
              </a:ext>
            </a:extLst>
          </p:cNvPr>
          <p:cNvSpPr txBox="1"/>
          <p:nvPr/>
        </p:nvSpPr>
        <p:spPr>
          <a:xfrm>
            <a:off x="419659" y="1545040"/>
            <a:ext cx="3274288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GUI updated through these mechanisms: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_update </a:t>
            </a:r>
            <a:r>
              <a:rPr lang="en-US" sz="800" noProof="1"/>
              <a:t>loop (displays output depending on mode; see </a:t>
            </a:r>
            <a:r>
              <a:rPr lang="en-US" sz="800" noProof="1">
                <a:solidFill>
                  <a:schemeClr val="accent1"/>
                </a:solidFill>
              </a:rPr>
              <a:t>_setMode</a:t>
            </a:r>
            <a:r>
              <a:rPr lang="en-US" sz="800" noProof="1"/>
              <a:t>):</a:t>
            </a:r>
            <a:br>
              <a:rPr lang="en-US" sz="800" noProof="1"/>
            </a:br>
            <a:r>
              <a:rPr lang="en-US" sz="800" noProof="1"/>
              <a:t>sets titlebar, statusbar, icon visibility</a:t>
            </a:r>
            <a:br>
              <a:rPr lang="en-US" sz="800" noProof="1"/>
            </a:br>
            <a:r>
              <a:rPr lang="en-US" sz="800" noProof="1"/>
              <a:t>saves settings when leaving settings mode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fetchtimer</a:t>
            </a:r>
            <a:r>
              <a:rPr lang="en-US" sz="800" noProof="1"/>
              <a:t> - looks for remote changes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_callback </a:t>
            </a:r>
            <a:r>
              <a:rPr lang="en-US" sz="800" noProof="1"/>
              <a:t>- some callbacks update directly :</a:t>
            </a:r>
            <a:br>
              <a:rPr lang="en-US" sz="800" noProof="1"/>
            </a:br>
            <a:r>
              <a:rPr lang="en-US" sz="800" noProof="1"/>
              <a:t>(repo, branch, arrows)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_setMode</a:t>
            </a:r>
            <a:r>
              <a:rPr lang="en-US" sz="800" noProof="1"/>
              <a:t> (prepares for program input; mode-dependent):</a:t>
            </a:r>
            <a:br>
              <a:rPr lang="en-US" sz="800" noProof="1"/>
            </a:br>
            <a:r>
              <a:rPr lang="en-US" sz="800" noProof="1"/>
              <a:t>determines mode (if UNKNOWN)</a:t>
            </a:r>
            <a:br>
              <a:rPr lang="en-US" sz="800" noProof="1"/>
            </a:br>
            <a:r>
              <a:rPr lang="en-US" sz="800" noProof="1"/>
              <a:t>sets button: Store/Checkout, enabled/disabled</a:t>
            </a:r>
            <a:br>
              <a:rPr lang="en-US" sz="800" noProof="1"/>
            </a:br>
            <a:r>
              <a:rPr lang="en-US" sz="800" noProof="1"/>
              <a:t>sets message : placeholder-text/writeable,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UNKNOWN (Identifies and sets mode)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DEFAULT (no repos)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NO_FILES_TO_COMMIT (no changes)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CHANGED_FILES (changes)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CHANGED_FILES_TEXT_ENTERED (_callback/messageKeyUpEvent)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SETTINGS (_callback/showSettings)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HISTORY (history browsing)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SETTINGS (settings window)</a:t>
            </a:r>
          </a:p>
          <a:p>
            <a:pPr marL="152550" lvl="1"/>
            <a:r>
              <a:rPr lang="en-US" sz="800" u="sng" noProof="1"/>
              <a:t>Called by </a:t>
            </a:r>
            <a:r>
              <a:rPr lang="en-US" sz="800" noProof="1"/>
              <a:t>: </a:t>
            </a:r>
            <a:br>
              <a:rPr lang="en-US" sz="800" noProof="1"/>
            </a:br>
            <a:r>
              <a:rPr lang="en-US" sz="800" noProof="1"/>
              <a:t>gitAddCommitAndPush, gitPull, gitMerge, window.onload</a:t>
            </a:r>
            <a:br>
              <a:rPr lang="en-US" sz="800" noProof="1"/>
            </a:br>
            <a:r>
              <a:rPr lang="en-US" sz="800" noProof="1"/>
              <a:t>_callback : repoClicked, branchClicked, upArrowClicked</a:t>
            </a:r>
            <a:br>
              <a:rPr lang="en-US" sz="800" noProof="1"/>
            </a:br>
            <a:r>
              <a:rPr lang="en-US" sz="800" noProof="1"/>
              <a:t>_update (when caught error)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EB22BA33-1BE2-9C4E-857E-F8FF1526BB6F}"/>
              </a:ext>
            </a:extLst>
          </p:cNvPr>
          <p:cNvSpPr txBox="1"/>
          <p:nvPr/>
        </p:nvSpPr>
        <p:spPr>
          <a:xfrm>
            <a:off x="336553" y="953256"/>
            <a:ext cx="3169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GUI update mechanism</a:t>
            </a:r>
          </a:p>
        </p:txBody>
      </p:sp>
    </p:spTree>
    <p:extLst>
      <p:ext uri="{BB962C8B-B14F-4D97-AF65-F5344CB8AC3E}">
        <p14:creationId xmlns:p14="http://schemas.microsoft.com/office/powerpoint/2010/main" val="2983324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ruta 70">
            <a:extLst>
              <a:ext uri="{FF2B5EF4-FFF2-40B4-BE49-F238E27FC236}">
                <a16:creationId xmlns:a16="http://schemas.microsoft.com/office/drawing/2014/main" id="{E382ED10-75F7-0342-8D5C-723205A13871}"/>
              </a:ext>
            </a:extLst>
          </p:cNvPr>
          <p:cNvSpPr txBox="1"/>
          <p:nvPr/>
        </p:nvSpPr>
        <p:spPr>
          <a:xfrm>
            <a:off x="8218319" y="1544189"/>
            <a:ext cx="4271871" cy="34569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ruta 35">
            <a:extLst>
              <a:ext uri="{FF2B5EF4-FFF2-40B4-BE49-F238E27FC236}">
                <a16:creationId xmlns:a16="http://schemas.microsoft.com/office/drawing/2014/main" id="{940C46E8-1898-1749-9B0B-374E4B00BCC1}"/>
              </a:ext>
            </a:extLst>
          </p:cNvPr>
          <p:cNvSpPr txBox="1"/>
          <p:nvPr/>
        </p:nvSpPr>
        <p:spPr>
          <a:xfrm>
            <a:off x="10097181" y="2402783"/>
            <a:ext cx="2456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/>
              <a:t>startOfSegment</a:t>
            </a:r>
            <a:r>
              <a:rPr lang="en-US" sz="900" dirty="0"/>
              <a:t>       (need to determine column)</a:t>
            </a:r>
          </a:p>
        </p:txBody>
      </p:sp>
      <p:cxnSp>
        <p:nvCxnSpPr>
          <p:cNvPr id="28" name="Rak 27">
            <a:extLst>
              <a:ext uri="{FF2B5EF4-FFF2-40B4-BE49-F238E27FC236}">
                <a16:creationId xmlns:a16="http://schemas.microsoft.com/office/drawing/2014/main" id="{A5506E4C-1A44-594A-9378-970577141BEC}"/>
              </a:ext>
            </a:extLst>
          </p:cNvPr>
          <p:cNvCxnSpPr>
            <a:cxnSpLocks/>
          </p:cNvCxnSpPr>
          <p:nvPr/>
        </p:nvCxnSpPr>
        <p:spPr>
          <a:xfrm>
            <a:off x="10098187" y="2530950"/>
            <a:ext cx="8327" cy="6451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83E1DA8D-DE72-7249-821E-88B0B328518E}"/>
              </a:ext>
            </a:extLst>
          </p:cNvPr>
          <p:cNvSpPr txBox="1"/>
          <p:nvPr/>
        </p:nvSpPr>
        <p:spPr>
          <a:xfrm>
            <a:off x="416902" y="122259"/>
            <a:ext cx="40443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Graph Window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77EA4855-816D-4843-AFD4-31493A625EE9}"/>
              </a:ext>
            </a:extLst>
          </p:cNvPr>
          <p:cNvSpPr/>
          <p:nvPr/>
        </p:nvSpPr>
        <p:spPr>
          <a:xfrm>
            <a:off x="311410" y="1555930"/>
            <a:ext cx="3685232" cy="60016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Graph window shows history of current branch (green) and other branches (black). It follows the history in the main window, so that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main window message is updated when clicking a commit in graph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pinned commit is linked between graph and main window</a:t>
            </a: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selected in graph window moves with main window history arrows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graph window uses the filtered history from main window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injectIntoJs(document)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gets the search history (full history if not searched) form opener.gitHistory().</a:t>
            </a:r>
            <a:br>
              <a:rPr lang="en-US" sz="800" noProof="1"/>
            </a:br>
            <a:r>
              <a:rPr lang="en-US" sz="800" noProof="1"/>
              <a:t>This is not updated automatically, so if search is changed, injectIntoJs has to be called again (search does that)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draws the complete graph using git log –first-parent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setPinned(hash, isPinned)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sets pin in main window (isPinned = true / false)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localState keeps track of what is marked in the graph window</a:t>
            </a:r>
            <a:r>
              <a:rPr lang="en-US" sz="800" noProof="1"/>
              <a:t>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.selectedDiv (the selected element ) (”” means none selected)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.pinnedDiv (the pinned div) (”” means none selected)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CLICK in Main :</a:t>
            </a:r>
            <a:br>
              <a:rPr lang="en-US" sz="800" noProof="1">
                <a:solidFill>
                  <a:schemeClr val="accent1"/>
                </a:solidFill>
              </a:rPr>
            </a:br>
            <a:r>
              <a:rPr lang="en-US" sz="800" noProof="1">
                <a:solidFill>
                  <a:schemeClr val="accent1"/>
                </a:solidFill>
              </a:rPr>
              <a:t> app.js  selectInGraph(hash)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performs a click action in graph window</a:t>
            </a:r>
            <a:endParaRPr lang="en-US" sz="800" noProof="1">
              <a:solidFill>
                <a:schemeClr val="accent1"/>
              </a:solidFill>
            </a:endParaRPr>
          </a:p>
          <a:p>
            <a:pPr marL="152550" lvl="1"/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CLICK in GRAPH : </a:t>
            </a:r>
            <a:br>
              <a:rPr lang="en-US" sz="800" noProof="1">
                <a:solidFill>
                  <a:schemeClr val="accent1"/>
                </a:solidFill>
              </a:rPr>
            </a:br>
            <a:r>
              <a:rPr lang="en-US" sz="800" noProof="1">
                <a:solidFill>
                  <a:schemeClr val="accent1"/>
                </a:solidFill>
              </a:rPr>
              <a:t>graph.html has all the logics for displaying clicked select and pin actions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it also calls setHistoricalCommit,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which sets localState.historyHash,  …,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and calls opener._update to show correct commit in main window</a:t>
            </a:r>
            <a:endParaRPr lang="en-US" sz="800" noProof="1">
              <a:solidFill>
                <a:schemeClr val="accent1"/>
              </a:solidFill>
            </a:endParaRPr>
          </a:p>
          <a:p>
            <a:pPr indent="-304650"/>
            <a:endParaRPr lang="en-US" sz="800" noProof="1"/>
          </a:p>
          <a:p>
            <a:r>
              <a:rPr lang="en-US" sz="800" b="1" noProof="1"/>
              <a:t>Colored nodes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Nodes are color-coded according to branch-name stored (see Internals / branchname for every commit)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black for unknown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green for unknown on first-parent branch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colored when branch is known from git-note storage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There is an edit mechanism, that allows edit of branch-name to commits. Edit range of commits by selecting oldest commit, and shift-select a later commit (higher up In graph)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Colors are stored in graph.js variable “colorImageNameDefinitions”.  Color images are generated once using bash script colorize.bash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indent="-304650"/>
            <a:endParaRPr lang="en-US" sz="800" noProof="1"/>
          </a:p>
          <a:p>
            <a:r>
              <a:rPr lang="en-US" sz="800" b="1" noProof="1"/>
              <a:t>Two ways to display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compressed (MODE ‘git-log-graph’), where known branchnames can be in same lane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swim-lanes  (MODE ‘swim-lanes’), where each known branch in different lane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EB943EB-D356-7842-9286-E151B6052897}"/>
              </a:ext>
            </a:extLst>
          </p:cNvPr>
          <p:cNvSpPr txBox="1"/>
          <p:nvPr/>
        </p:nvSpPr>
        <p:spPr>
          <a:xfrm>
            <a:off x="244345" y="953256"/>
            <a:ext cx="1186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General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B5B4C600-DEFC-304D-A8FA-22978CD1137B}"/>
              </a:ext>
            </a:extLst>
          </p:cNvPr>
          <p:cNvSpPr txBox="1"/>
          <p:nvPr/>
        </p:nvSpPr>
        <p:spPr>
          <a:xfrm>
            <a:off x="4258770" y="1016317"/>
            <a:ext cx="2045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Drawing graph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286931AB-36C3-5445-8611-2F7771160C97}"/>
              </a:ext>
            </a:extLst>
          </p:cNvPr>
          <p:cNvSpPr/>
          <p:nvPr/>
        </p:nvSpPr>
        <p:spPr>
          <a:xfrm>
            <a:off x="4258770" y="1555930"/>
            <a:ext cx="3685232" cy="39087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Commit history is traversed multiple times (see figure)</a:t>
            </a:r>
            <a:br>
              <a:rPr lang="en-US" sz="800" b="1" noProof="1"/>
            </a:br>
            <a:endParaRPr lang="en-US" sz="800" b="1" noProof="1"/>
          </a:p>
          <a:p>
            <a:r>
              <a:rPr lang="en-US" sz="800" noProof="1"/>
              <a:t>Pass 1, 2, 3 iterates over all commits from git-log:</a:t>
            </a:r>
            <a:br>
              <a:rPr lang="en-US" sz="800" noProof="1"/>
            </a:b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1. Collect git-log info :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map branchNames (branchName -&gt; index-number)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assign branchName to commit if stored in git-notes 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branchName to commit from git-log decoration (overrides name from git-notes)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map children to each commit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create a commitArray 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create maps: </a:t>
            </a:r>
            <a:br>
              <a:rPr lang="en-US" sz="800" noProof="1"/>
            </a:br>
            <a:r>
              <a:rPr lang="en-US" sz="800" noProof="1"/>
              <a:t>- nodeMap (hash -&gt; commit struct) </a:t>
            </a:r>
            <a:br>
              <a:rPr lang="en-US" sz="800" noProof="1"/>
            </a:br>
            <a:r>
              <a:rPr lang="en-US" sz="800" noProof="1"/>
              <a:t>- childMap (hash -&gt; array of children hashes)</a:t>
            </a:r>
            <a:br>
              <a:rPr lang="en-US" sz="800" noProof="1"/>
            </a:br>
            <a:r>
              <a:rPr lang="en-US" sz="800" noProof="1"/>
              <a:t>- mapVisibleBranchToTopCommit  (map branchName -&gt; newest commit)</a:t>
            </a:r>
            <a:br>
              <a:rPr lang="en-US" sz="800" noProof="1"/>
            </a:br>
            <a:r>
              <a:rPr lang="en-US" sz="800" noProof="1"/>
              <a:t>- mapTopCommitToBranchName (map newest commit -&gt; branchName)</a:t>
            </a:r>
            <a:br>
              <a:rPr lang="en-US" sz="800" noProof="1"/>
            </a:br>
            <a:r>
              <a:rPr lang="en-US" sz="800" noProof="1"/>
              <a:t>- 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r>
              <a:rPr lang="en-US" sz="800" noProof="1"/>
              <a:t>NUMBER_OF_KNOWN_BRANCHES = found branchNames</a:t>
            </a:r>
            <a:br>
              <a:rPr lang="en-US" sz="800" noProof="1"/>
            </a:b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2. Find node x-position, and draw connections between nodes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Start of segment – get free lane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On a segment :</a:t>
            </a:r>
            <a:br>
              <a:rPr lang="en-US" sz="800" noProof="1"/>
            </a:br>
            <a:r>
              <a:rPr lang="en-US" sz="800" noProof="1"/>
              <a:t>- copy commit branch name and x position from first child</a:t>
            </a:r>
            <a:br>
              <a:rPr lang="en-US" sz="800" noProof="1"/>
            </a:br>
            <a:r>
              <a:rPr lang="en-US" sz="800" noProof="1"/>
              <a:t>- copy commit hidden branch and unknown branch status from first child</a:t>
            </a:r>
            <a:br>
              <a:rPr lang="en-US" sz="800" noProof="1"/>
            </a:br>
            <a:r>
              <a:rPr lang="en-US" sz="800" noProof="1"/>
              <a:t>- mark lane necessary for connection occupied (reserved for use)</a:t>
            </a:r>
            <a:br>
              <a:rPr lang="en-US" sz="800" noProof="1"/>
            </a:br>
            <a:r>
              <a:rPr lang="en-US" sz="800" noProof="1"/>
              <a:t>- mark lane as occupied until next parent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End of segment :</a:t>
            </a:r>
            <a:br>
              <a:rPr lang="en-US" sz="800" noProof="1"/>
            </a:br>
            <a:r>
              <a:rPr lang="en-US" sz="800" noProof="1"/>
              <a:t>- isAfterEndOfSegment clears occupied lanes downwards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Draw connections between nodes, and create message text</a:t>
            </a:r>
          </a:p>
          <a:p>
            <a:pPr marL="179388" indent="-85725">
              <a:buFont typeface="Arial" panose="020B0604020202020204" pitchFamily="34" charset="0"/>
              <a:buChar char="•"/>
            </a:pP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3. Draw nodes (thus covering connecting lines drawn in pass 2)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</p:txBody>
      </p:sp>
      <p:grpSp>
        <p:nvGrpSpPr>
          <p:cNvPr id="3" name="Grupp 2">
            <a:extLst>
              <a:ext uri="{FF2B5EF4-FFF2-40B4-BE49-F238E27FC236}">
                <a16:creationId xmlns:a16="http://schemas.microsoft.com/office/drawing/2014/main" id="{4DBBCAFB-9484-9149-83F8-7754ECE3045B}"/>
              </a:ext>
            </a:extLst>
          </p:cNvPr>
          <p:cNvGrpSpPr/>
          <p:nvPr/>
        </p:nvGrpSpPr>
        <p:grpSpPr>
          <a:xfrm>
            <a:off x="9845356" y="3266367"/>
            <a:ext cx="71021" cy="223421"/>
            <a:chOff x="9152400" y="2571565"/>
            <a:chExt cx="71021" cy="223421"/>
          </a:xfrm>
        </p:grpSpPr>
        <p:sp>
          <p:nvSpPr>
            <p:cNvPr id="19" name="Ellips 18">
              <a:extLst>
                <a:ext uri="{FF2B5EF4-FFF2-40B4-BE49-F238E27FC236}">
                  <a16:creationId xmlns:a16="http://schemas.microsoft.com/office/drawing/2014/main" id="{EE8E1707-91F7-584B-B3B2-B756B90832CE}"/>
                </a:ext>
              </a:extLst>
            </p:cNvPr>
            <p:cNvSpPr/>
            <p:nvPr/>
          </p:nvSpPr>
          <p:spPr>
            <a:xfrm>
              <a:off x="9152400" y="2571565"/>
              <a:ext cx="71021" cy="710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 19">
              <a:extLst>
                <a:ext uri="{FF2B5EF4-FFF2-40B4-BE49-F238E27FC236}">
                  <a16:creationId xmlns:a16="http://schemas.microsoft.com/office/drawing/2014/main" id="{C8F33110-E0D8-774B-AB38-A8CB64B70AF2}"/>
                </a:ext>
              </a:extLst>
            </p:cNvPr>
            <p:cNvSpPr/>
            <p:nvPr/>
          </p:nvSpPr>
          <p:spPr>
            <a:xfrm>
              <a:off x="9152400" y="2723965"/>
              <a:ext cx="71021" cy="710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upp 22">
            <a:extLst>
              <a:ext uri="{FF2B5EF4-FFF2-40B4-BE49-F238E27FC236}">
                <a16:creationId xmlns:a16="http://schemas.microsoft.com/office/drawing/2014/main" id="{D4914115-22D1-034D-A46E-16C5155A7647}"/>
              </a:ext>
            </a:extLst>
          </p:cNvPr>
          <p:cNvGrpSpPr/>
          <p:nvPr/>
        </p:nvGrpSpPr>
        <p:grpSpPr>
          <a:xfrm>
            <a:off x="9817160" y="2189764"/>
            <a:ext cx="71021" cy="223421"/>
            <a:chOff x="9152400" y="2571565"/>
            <a:chExt cx="71021" cy="223421"/>
          </a:xfrm>
        </p:grpSpPr>
        <p:sp>
          <p:nvSpPr>
            <p:cNvPr id="24" name="Ellips 23">
              <a:extLst>
                <a:ext uri="{FF2B5EF4-FFF2-40B4-BE49-F238E27FC236}">
                  <a16:creationId xmlns:a16="http://schemas.microsoft.com/office/drawing/2014/main" id="{7BA119BC-5C84-704C-82BF-ACFC30738C56}"/>
                </a:ext>
              </a:extLst>
            </p:cNvPr>
            <p:cNvSpPr/>
            <p:nvPr/>
          </p:nvSpPr>
          <p:spPr>
            <a:xfrm>
              <a:off x="9152400" y="2571565"/>
              <a:ext cx="71021" cy="710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Ellips 24">
              <a:extLst>
                <a:ext uri="{FF2B5EF4-FFF2-40B4-BE49-F238E27FC236}">
                  <a16:creationId xmlns:a16="http://schemas.microsoft.com/office/drawing/2014/main" id="{20F5E0C6-4E04-0749-AB90-FA6F299E25C6}"/>
                </a:ext>
              </a:extLst>
            </p:cNvPr>
            <p:cNvSpPr/>
            <p:nvPr/>
          </p:nvSpPr>
          <p:spPr>
            <a:xfrm>
              <a:off x="9152400" y="2723965"/>
              <a:ext cx="71021" cy="710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Rak 5">
            <a:extLst>
              <a:ext uri="{FF2B5EF4-FFF2-40B4-BE49-F238E27FC236}">
                <a16:creationId xmlns:a16="http://schemas.microsoft.com/office/drawing/2014/main" id="{476FC58B-F192-2944-91C6-8887A8B4FCD4}"/>
              </a:ext>
            </a:extLst>
          </p:cNvPr>
          <p:cNvCxnSpPr/>
          <p:nvPr/>
        </p:nvCxnSpPr>
        <p:spPr>
          <a:xfrm>
            <a:off x="9852670" y="2089405"/>
            <a:ext cx="35511" cy="1670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ak 25">
            <a:extLst>
              <a:ext uri="{FF2B5EF4-FFF2-40B4-BE49-F238E27FC236}">
                <a16:creationId xmlns:a16="http://schemas.microsoft.com/office/drawing/2014/main" id="{481346A7-8F80-D644-98D8-0157ACE8604A}"/>
              </a:ext>
            </a:extLst>
          </p:cNvPr>
          <p:cNvCxnSpPr>
            <a:cxnSpLocks/>
            <a:stCxn id="25" idx="5"/>
            <a:endCxn id="2" idx="5"/>
          </p:cNvCxnSpPr>
          <p:nvPr/>
        </p:nvCxnSpPr>
        <p:spPr>
          <a:xfrm>
            <a:off x="9877780" y="2402784"/>
            <a:ext cx="246528" cy="153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ak 29">
            <a:extLst>
              <a:ext uri="{FF2B5EF4-FFF2-40B4-BE49-F238E27FC236}">
                <a16:creationId xmlns:a16="http://schemas.microsoft.com/office/drawing/2014/main" id="{8C3F144F-C7DF-1B49-8CE1-59F52A5EECE2}"/>
              </a:ext>
            </a:extLst>
          </p:cNvPr>
          <p:cNvCxnSpPr>
            <a:cxnSpLocks/>
          </p:cNvCxnSpPr>
          <p:nvPr/>
        </p:nvCxnSpPr>
        <p:spPr>
          <a:xfrm flipV="1">
            <a:off x="9905976" y="3155181"/>
            <a:ext cx="157712" cy="136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 1">
            <a:extLst>
              <a:ext uri="{FF2B5EF4-FFF2-40B4-BE49-F238E27FC236}">
                <a16:creationId xmlns:a16="http://schemas.microsoft.com/office/drawing/2014/main" id="{0689C363-AB69-CA4D-9587-601C5D9D6B20}"/>
              </a:ext>
            </a:extLst>
          </p:cNvPr>
          <p:cNvSpPr/>
          <p:nvPr/>
        </p:nvSpPr>
        <p:spPr>
          <a:xfrm>
            <a:off x="10063688" y="2495440"/>
            <a:ext cx="71021" cy="71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8" name="Ellips 7">
            <a:extLst>
              <a:ext uri="{FF2B5EF4-FFF2-40B4-BE49-F238E27FC236}">
                <a16:creationId xmlns:a16="http://schemas.microsoft.com/office/drawing/2014/main" id="{A24C19B5-943D-F94D-9CEB-0B40554E1E2F}"/>
              </a:ext>
            </a:extLst>
          </p:cNvPr>
          <p:cNvSpPr/>
          <p:nvPr/>
        </p:nvSpPr>
        <p:spPr>
          <a:xfrm>
            <a:off x="10063688" y="2647840"/>
            <a:ext cx="71021" cy="71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9" name="Ellips 8">
            <a:extLst>
              <a:ext uri="{FF2B5EF4-FFF2-40B4-BE49-F238E27FC236}">
                <a16:creationId xmlns:a16="http://schemas.microsoft.com/office/drawing/2014/main" id="{E42204CF-7E14-5B4A-8F68-3131EE435880}"/>
              </a:ext>
            </a:extLst>
          </p:cNvPr>
          <p:cNvSpPr/>
          <p:nvPr/>
        </p:nvSpPr>
        <p:spPr>
          <a:xfrm>
            <a:off x="10063688" y="2800240"/>
            <a:ext cx="71021" cy="71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3" name="Ellips 12">
            <a:extLst>
              <a:ext uri="{FF2B5EF4-FFF2-40B4-BE49-F238E27FC236}">
                <a16:creationId xmlns:a16="http://schemas.microsoft.com/office/drawing/2014/main" id="{7137FCFF-31D1-4649-8E0E-CFF1CDF74254}"/>
              </a:ext>
            </a:extLst>
          </p:cNvPr>
          <p:cNvSpPr/>
          <p:nvPr/>
        </p:nvSpPr>
        <p:spPr>
          <a:xfrm>
            <a:off x="10063688" y="2952640"/>
            <a:ext cx="71021" cy="71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15" name="Ellips 14">
            <a:extLst>
              <a:ext uri="{FF2B5EF4-FFF2-40B4-BE49-F238E27FC236}">
                <a16:creationId xmlns:a16="http://schemas.microsoft.com/office/drawing/2014/main" id="{81E533F6-8E9B-904A-B1E4-990953B34C1C}"/>
              </a:ext>
            </a:extLst>
          </p:cNvPr>
          <p:cNvSpPr/>
          <p:nvPr/>
        </p:nvSpPr>
        <p:spPr>
          <a:xfrm>
            <a:off x="10063688" y="3105040"/>
            <a:ext cx="71021" cy="710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A371BC9E-5A62-ED46-A54F-F549C75B277E}"/>
              </a:ext>
            </a:extLst>
          </p:cNvPr>
          <p:cNvSpPr txBox="1"/>
          <p:nvPr/>
        </p:nvSpPr>
        <p:spPr>
          <a:xfrm>
            <a:off x="9895495" y="3176061"/>
            <a:ext cx="1136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/>
              <a:t>afterEndOfSegment</a:t>
            </a:r>
            <a:endParaRPr lang="en-US" sz="900" b="1" dirty="0"/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67D5E3C2-1F4B-C040-A55E-55161DCCC7CF}"/>
              </a:ext>
            </a:extLst>
          </p:cNvPr>
          <p:cNvSpPr/>
          <p:nvPr/>
        </p:nvSpPr>
        <p:spPr>
          <a:xfrm>
            <a:off x="10081483" y="3022785"/>
            <a:ext cx="11095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segment ends here </a:t>
            </a:r>
          </a:p>
        </p:txBody>
      </p:sp>
      <p:sp>
        <p:nvSpPr>
          <p:cNvPr id="41" name="Höger klammerparentes 40">
            <a:extLst>
              <a:ext uri="{FF2B5EF4-FFF2-40B4-BE49-F238E27FC236}">
                <a16:creationId xmlns:a16="http://schemas.microsoft.com/office/drawing/2014/main" id="{15966A0A-58D1-F04D-93FA-94741DFF2E0F}"/>
              </a:ext>
            </a:extLst>
          </p:cNvPr>
          <p:cNvSpPr/>
          <p:nvPr/>
        </p:nvSpPr>
        <p:spPr>
          <a:xfrm>
            <a:off x="11012376" y="2481586"/>
            <a:ext cx="164868" cy="7131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ruta 41">
            <a:extLst>
              <a:ext uri="{FF2B5EF4-FFF2-40B4-BE49-F238E27FC236}">
                <a16:creationId xmlns:a16="http://schemas.microsoft.com/office/drawing/2014/main" id="{CD3E1E61-C694-7546-A5E0-594DC0411208}"/>
              </a:ext>
            </a:extLst>
          </p:cNvPr>
          <p:cNvSpPr txBox="1"/>
          <p:nvPr/>
        </p:nvSpPr>
        <p:spPr>
          <a:xfrm>
            <a:off x="11191082" y="2721808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segment</a:t>
            </a:r>
          </a:p>
        </p:txBody>
      </p:sp>
      <p:cxnSp>
        <p:nvCxnSpPr>
          <p:cNvPr id="44" name="Rak pil 43">
            <a:extLst>
              <a:ext uri="{FF2B5EF4-FFF2-40B4-BE49-F238E27FC236}">
                <a16:creationId xmlns:a16="http://schemas.microsoft.com/office/drawing/2014/main" id="{C8FAE16C-C712-DC4A-B2AD-C0C7C7BE59FC}"/>
              </a:ext>
            </a:extLst>
          </p:cNvPr>
          <p:cNvCxnSpPr/>
          <p:nvPr/>
        </p:nvCxnSpPr>
        <p:spPr>
          <a:xfrm>
            <a:off x="9528603" y="1612291"/>
            <a:ext cx="0" cy="308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ruta 44">
            <a:extLst>
              <a:ext uri="{FF2B5EF4-FFF2-40B4-BE49-F238E27FC236}">
                <a16:creationId xmlns:a16="http://schemas.microsoft.com/office/drawing/2014/main" id="{DA0F3BE0-F5BF-E647-AD9B-CFA8D514DE7E}"/>
              </a:ext>
            </a:extLst>
          </p:cNvPr>
          <p:cNvSpPr txBox="1"/>
          <p:nvPr/>
        </p:nvSpPr>
        <p:spPr>
          <a:xfrm>
            <a:off x="8265485" y="1632526"/>
            <a:ext cx="13035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Loop direction (3 times)</a:t>
            </a:r>
          </a:p>
        </p:txBody>
      </p:sp>
      <p:sp>
        <p:nvSpPr>
          <p:cNvPr id="46" name="textruta 45">
            <a:extLst>
              <a:ext uri="{FF2B5EF4-FFF2-40B4-BE49-F238E27FC236}">
                <a16:creationId xmlns:a16="http://schemas.microsoft.com/office/drawing/2014/main" id="{433A5733-221F-D648-9133-14ACE4ACF277}"/>
              </a:ext>
            </a:extLst>
          </p:cNvPr>
          <p:cNvSpPr txBox="1"/>
          <p:nvPr/>
        </p:nvSpPr>
        <p:spPr>
          <a:xfrm>
            <a:off x="9520602" y="1921072"/>
            <a:ext cx="9140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newer commits</a:t>
            </a:r>
          </a:p>
        </p:txBody>
      </p:sp>
      <p:sp>
        <p:nvSpPr>
          <p:cNvPr id="47" name="textruta 46">
            <a:extLst>
              <a:ext uri="{FF2B5EF4-FFF2-40B4-BE49-F238E27FC236}">
                <a16:creationId xmlns:a16="http://schemas.microsoft.com/office/drawing/2014/main" id="{C6011842-B23D-824E-84DD-7F02BAB62684}"/>
              </a:ext>
            </a:extLst>
          </p:cNvPr>
          <p:cNvSpPr txBox="1"/>
          <p:nvPr/>
        </p:nvSpPr>
        <p:spPr>
          <a:xfrm>
            <a:off x="9526911" y="3792194"/>
            <a:ext cx="8627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older commits</a:t>
            </a:r>
          </a:p>
        </p:txBody>
      </p:sp>
      <p:cxnSp>
        <p:nvCxnSpPr>
          <p:cNvPr id="48" name="Rak pil 47">
            <a:extLst>
              <a:ext uri="{FF2B5EF4-FFF2-40B4-BE49-F238E27FC236}">
                <a16:creationId xmlns:a16="http://schemas.microsoft.com/office/drawing/2014/main" id="{2DE0BAF2-4144-D24F-8964-300231F285EB}"/>
              </a:ext>
            </a:extLst>
          </p:cNvPr>
          <p:cNvCxnSpPr>
            <a:cxnSpLocks/>
          </p:cNvCxnSpPr>
          <p:nvPr/>
        </p:nvCxnSpPr>
        <p:spPr>
          <a:xfrm>
            <a:off x="9895495" y="4124522"/>
            <a:ext cx="12955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ruta 49">
            <a:extLst>
              <a:ext uri="{FF2B5EF4-FFF2-40B4-BE49-F238E27FC236}">
                <a16:creationId xmlns:a16="http://schemas.microsoft.com/office/drawing/2014/main" id="{3753642E-92FD-D241-9F5A-1D7D716B2B62}"/>
              </a:ext>
            </a:extLst>
          </p:cNvPr>
          <p:cNvSpPr txBox="1"/>
          <p:nvPr/>
        </p:nvSpPr>
        <p:spPr>
          <a:xfrm>
            <a:off x="9969387" y="4094600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x-position (column)</a:t>
            </a:r>
          </a:p>
        </p:txBody>
      </p:sp>
      <p:cxnSp>
        <p:nvCxnSpPr>
          <p:cNvPr id="52" name="Rak pil 51">
            <a:extLst>
              <a:ext uri="{FF2B5EF4-FFF2-40B4-BE49-F238E27FC236}">
                <a16:creationId xmlns:a16="http://schemas.microsoft.com/office/drawing/2014/main" id="{313AF281-58C4-DE4C-A26C-F649B0005BE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8838466" y="2522847"/>
            <a:ext cx="914678" cy="872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ak pil 53">
            <a:extLst>
              <a:ext uri="{FF2B5EF4-FFF2-40B4-BE49-F238E27FC236}">
                <a16:creationId xmlns:a16="http://schemas.microsoft.com/office/drawing/2014/main" id="{B0EEA64F-C575-F543-8DA6-60E04690D2B9}"/>
              </a:ext>
            </a:extLst>
          </p:cNvPr>
          <p:cNvCxnSpPr>
            <a:cxnSpLocks/>
          </p:cNvCxnSpPr>
          <p:nvPr/>
        </p:nvCxnSpPr>
        <p:spPr>
          <a:xfrm>
            <a:off x="9426566" y="3301260"/>
            <a:ext cx="347520" cy="61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ruta 54">
            <a:extLst>
              <a:ext uri="{FF2B5EF4-FFF2-40B4-BE49-F238E27FC236}">
                <a16:creationId xmlns:a16="http://schemas.microsoft.com/office/drawing/2014/main" id="{898DEC5A-7BF3-494E-BBD8-9CC1AE2E6E04}"/>
              </a:ext>
            </a:extLst>
          </p:cNvPr>
          <p:cNvSpPr txBox="1"/>
          <p:nvPr/>
        </p:nvSpPr>
        <p:spPr>
          <a:xfrm>
            <a:off x="8246637" y="240743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a) row : </a:t>
            </a:r>
            <a:r>
              <a:rPr lang="en-US" sz="900" dirty="0" err="1"/>
              <a:t>i</a:t>
            </a:r>
            <a:endParaRPr lang="en-US" sz="900" dirty="0"/>
          </a:p>
        </p:txBody>
      </p:sp>
      <p:sp>
        <p:nvSpPr>
          <p:cNvPr id="56" name="textruta 55">
            <a:extLst>
              <a:ext uri="{FF2B5EF4-FFF2-40B4-BE49-F238E27FC236}">
                <a16:creationId xmlns:a16="http://schemas.microsoft.com/office/drawing/2014/main" id="{932A7C84-F9E2-3B4C-82B2-6F59833CFDEA}"/>
              </a:ext>
            </a:extLst>
          </p:cNvPr>
          <p:cNvSpPr txBox="1"/>
          <p:nvPr/>
        </p:nvSpPr>
        <p:spPr>
          <a:xfrm>
            <a:off x="8291109" y="3192895"/>
            <a:ext cx="129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b) next in this lane &gt; </a:t>
            </a:r>
            <a:r>
              <a:rPr lang="en-US" sz="900" dirty="0" err="1"/>
              <a:t>i</a:t>
            </a:r>
            <a:endParaRPr lang="en-US" sz="900" dirty="0"/>
          </a:p>
          <a:p>
            <a:r>
              <a:rPr lang="en-US" sz="900" dirty="0"/>
              <a:t>Therefore occupied</a:t>
            </a:r>
          </a:p>
        </p:txBody>
      </p:sp>
      <p:cxnSp>
        <p:nvCxnSpPr>
          <p:cNvPr id="58" name="Rak pil 57">
            <a:extLst>
              <a:ext uri="{FF2B5EF4-FFF2-40B4-BE49-F238E27FC236}">
                <a16:creationId xmlns:a16="http://schemas.microsoft.com/office/drawing/2014/main" id="{16596D0B-E402-6748-B694-5D4FAF51220B}"/>
              </a:ext>
            </a:extLst>
          </p:cNvPr>
          <p:cNvCxnSpPr>
            <a:cxnSpLocks/>
          </p:cNvCxnSpPr>
          <p:nvPr/>
        </p:nvCxnSpPr>
        <p:spPr>
          <a:xfrm>
            <a:off x="10092817" y="2321405"/>
            <a:ext cx="7249" cy="1812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ruta 62">
            <a:extLst>
              <a:ext uri="{FF2B5EF4-FFF2-40B4-BE49-F238E27FC236}">
                <a16:creationId xmlns:a16="http://schemas.microsoft.com/office/drawing/2014/main" id="{AC800AF0-AAE7-AE4D-88B1-8EAD4556AF50}"/>
              </a:ext>
            </a:extLst>
          </p:cNvPr>
          <p:cNvSpPr txBox="1"/>
          <p:nvPr/>
        </p:nvSpPr>
        <p:spPr>
          <a:xfrm>
            <a:off x="9989270" y="2144989"/>
            <a:ext cx="1085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c) first free column</a:t>
            </a:r>
          </a:p>
        </p:txBody>
      </p:sp>
      <p:sp>
        <p:nvSpPr>
          <p:cNvPr id="64" name="textruta 63">
            <a:extLst>
              <a:ext uri="{FF2B5EF4-FFF2-40B4-BE49-F238E27FC236}">
                <a16:creationId xmlns:a16="http://schemas.microsoft.com/office/drawing/2014/main" id="{AEC8045E-0563-8848-935D-6C2A8B626CAA}"/>
              </a:ext>
            </a:extLst>
          </p:cNvPr>
          <p:cNvSpPr txBox="1"/>
          <p:nvPr/>
        </p:nvSpPr>
        <p:spPr>
          <a:xfrm>
            <a:off x="8971466" y="1046376"/>
            <a:ext cx="2224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Layout principle</a:t>
            </a:r>
          </a:p>
        </p:txBody>
      </p:sp>
      <p:cxnSp>
        <p:nvCxnSpPr>
          <p:cNvPr id="65" name="Rak pil 64">
            <a:extLst>
              <a:ext uri="{FF2B5EF4-FFF2-40B4-BE49-F238E27FC236}">
                <a16:creationId xmlns:a16="http://schemas.microsoft.com/office/drawing/2014/main" id="{CBF98A73-0568-C649-8113-B148500B18E2}"/>
              </a:ext>
            </a:extLst>
          </p:cNvPr>
          <p:cNvCxnSpPr>
            <a:cxnSpLocks/>
          </p:cNvCxnSpPr>
          <p:nvPr/>
        </p:nvCxnSpPr>
        <p:spPr>
          <a:xfrm flipV="1">
            <a:off x="9511182" y="2670619"/>
            <a:ext cx="473650" cy="5307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ruta 65">
            <a:extLst>
              <a:ext uri="{FF2B5EF4-FFF2-40B4-BE49-F238E27FC236}">
                <a16:creationId xmlns:a16="http://schemas.microsoft.com/office/drawing/2014/main" id="{4CD990E2-898B-5E40-9112-C72C0E82929E}"/>
              </a:ext>
            </a:extLst>
          </p:cNvPr>
          <p:cNvSpPr txBox="1"/>
          <p:nvPr/>
        </p:nvSpPr>
        <p:spPr>
          <a:xfrm>
            <a:off x="8480228" y="2625013"/>
            <a:ext cx="12924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d) next in this lane</a:t>
            </a:r>
            <a:br>
              <a:rPr lang="en-US" sz="900" dirty="0"/>
            </a:br>
            <a:r>
              <a:rPr lang="en-US" sz="900" dirty="0"/>
              <a:t>(marked occupied </a:t>
            </a:r>
            <a:br>
              <a:rPr lang="en-US" sz="900" dirty="0"/>
            </a:br>
            <a:r>
              <a:rPr lang="en-US" sz="900" dirty="0"/>
              <a:t>until segment ends)</a:t>
            </a:r>
          </a:p>
        </p:txBody>
      </p:sp>
      <p:sp>
        <p:nvSpPr>
          <p:cNvPr id="70" name="textruta 69">
            <a:extLst>
              <a:ext uri="{FF2B5EF4-FFF2-40B4-BE49-F238E27FC236}">
                <a16:creationId xmlns:a16="http://schemas.microsoft.com/office/drawing/2014/main" id="{8786B07B-5E6D-5942-B821-992FF3BFB269}"/>
              </a:ext>
            </a:extLst>
          </p:cNvPr>
          <p:cNvSpPr txBox="1"/>
          <p:nvPr/>
        </p:nvSpPr>
        <p:spPr>
          <a:xfrm>
            <a:off x="8622191" y="4493303"/>
            <a:ext cx="36102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Figure : Example of looping the git-log,</a:t>
            </a:r>
          </a:p>
          <a:p>
            <a:r>
              <a:rPr lang="en-US" sz="900" i="1" dirty="0"/>
              <a:t>and on how new lane is assigned (</a:t>
            </a:r>
            <a:r>
              <a:rPr lang="en-US" sz="900" i="1" dirty="0" err="1"/>
              <a:t>b,c</a:t>
            </a:r>
            <a:r>
              <a:rPr lang="en-US" sz="900" i="1" dirty="0"/>
              <a:t>) </a:t>
            </a:r>
          </a:p>
          <a:p>
            <a:r>
              <a:rPr lang="en-US" sz="900" i="1" dirty="0"/>
              <a:t>and how parent rows are stored (d).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524F2DEE-FA6B-744D-96C3-867EF635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602" y="5932918"/>
            <a:ext cx="7416800" cy="3657600"/>
          </a:xfrm>
          <a:prstGeom prst="rect">
            <a:avLst/>
          </a:prstGeom>
        </p:spPr>
      </p:pic>
      <p:sp>
        <p:nvSpPr>
          <p:cNvPr id="49" name="textruta 48">
            <a:extLst>
              <a:ext uri="{FF2B5EF4-FFF2-40B4-BE49-F238E27FC236}">
                <a16:creationId xmlns:a16="http://schemas.microsoft.com/office/drawing/2014/main" id="{FF027AD2-427D-FC4C-9D54-14B508B1E8C8}"/>
              </a:ext>
            </a:extLst>
          </p:cNvPr>
          <p:cNvSpPr txBox="1"/>
          <p:nvPr/>
        </p:nvSpPr>
        <p:spPr>
          <a:xfrm>
            <a:off x="4161004" y="5542640"/>
            <a:ext cx="1062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Details</a:t>
            </a:r>
          </a:p>
        </p:txBody>
      </p:sp>
      <p:sp>
        <p:nvSpPr>
          <p:cNvPr id="17" name="textruta 16">
            <a:hlinkClick r:id="rId3"/>
            <a:extLst>
              <a:ext uri="{FF2B5EF4-FFF2-40B4-BE49-F238E27FC236}">
                <a16:creationId xmlns:a16="http://schemas.microsoft.com/office/drawing/2014/main" id="{04A4ECEC-3227-1A41-B9A0-E27796704FF3}"/>
              </a:ext>
            </a:extLst>
          </p:cNvPr>
          <p:cNvSpPr txBox="1"/>
          <p:nvPr/>
        </p:nvSpPr>
        <p:spPr>
          <a:xfrm>
            <a:off x="9958279" y="5701378"/>
            <a:ext cx="1717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hlinkClick r:id="rId3"/>
                <a:hlinkMouseOver r:id="rId4" action="ppaction://hlinkfile"/>
              </a:rPr>
              <a:t>Graph_structure.xlsx</a:t>
            </a:r>
            <a:r>
              <a:rPr lang="en-US" sz="900" dirty="0"/>
              <a:t> (right-click)</a:t>
            </a:r>
          </a:p>
        </p:txBody>
      </p:sp>
    </p:spTree>
    <p:extLst>
      <p:ext uri="{BB962C8B-B14F-4D97-AF65-F5344CB8AC3E}">
        <p14:creationId xmlns:p14="http://schemas.microsoft.com/office/powerpoint/2010/main" val="245290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8B784B0E-8C78-2B47-8EE8-76C10C231606}"/>
              </a:ext>
            </a:extLst>
          </p:cNvPr>
          <p:cNvSpPr txBox="1"/>
          <p:nvPr/>
        </p:nvSpPr>
        <p:spPr>
          <a:xfrm>
            <a:off x="416902" y="953256"/>
            <a:ext cx="5257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Pragma-merge (built-in diff/merge tool)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5E5BBA8-F6BB-244F-B228-74B12DFCAC00}"/>
              </a:ext>
            </a:extLst>
          </p:cNvPr>
          <p:cNvSpPr/>
          <p:nvPr/>
        </p:nvSpPr>
        <p:spPr>
          <a:xfrm>
            <a:off x="416902" y="1472403"/>
            <a:ext cx="5396401" cy="58785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How it works </a:t>
            </a:r>
          </a:p>
          <a:p>
            <a:endParaRPr lang="en-US" sz="800" b="1" noProof="1"/>
          </a:p>
          <a:p>
            <a:r>
              <a:rPr lang="en-US" sz="800" b="1" noProof="1"/>
              <a:t>complicated because :</a:t>
            </a:r>
          </a:p>
          <a:p>
            <a:pPr marL="171450" indent="-171450">
              <a:buFontTx/>
              <a:buChar char="-"/>
            </a:pPr>
            <a:r>
              <a:rPr lang="en-US" sz="800" b="1" noProof="1"/>
              <a:t>nwjs does not allow exit code handling</a:t>
            </a:r>
          </a:p>
          <a:p>
            <a:pPr marL="171450" indent="-171450">
              <a:buFontTx/>
              <a:buChar char="-"/>
            </a:pPr>
            <a:r>
              <a:rPr lang="en-US" sz="800" b="1" noProof="1"/>
              <a:t>I had to make a bash script which places signal files, that are then picked up by pragma-git</a:t>
            </a:r>
          </a:p>
          <a:p>
            <a:pPr marL="171450" indent="-171450">
              <a:buFontTx/>
              <a:buChar char="-"/>
            </a:pPr>
            <a:r>
              <a:rPr lang="en-US" sz="800" b="1" noProof="1"/>
              <a:t>The sigalling file “pragma-merge-running” is controlling the flow between git and pragma-merge (via pragma-git)</a:t>
            </a:r>
            <a:br>
              <a:rPr lang="en-US" sz="800" b="1" noProof="1"/>
            </a:br>
            <a:endParaRPr lang="en-US" sz="800" noProof="1"/>
          </a:p>
          <a:p>
            <a:r>
              <a:rPr lang="en-US" sz="800" b="1" noProof="1"/>
              <a:t>Setup 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gitconfig  --global  include.path  is set when Pragma-git starts (different for Mac, Linux and Windows) </a:t>
            </a:r>
            <a:br>
              <a:rPr lang="en-US" sz="800" noProof="1">
                <a:solidFill>
                  <a:schemeClr val="accent1"/>
                </a:solidFill>
              </a:rPr>
            </a:br>
            <a:r>
              <a:rPr lang="en-US" sz="800" noProof="1"/>
              <a:t>include.path=/Users/jan/Documents/Projects/Pragma-git/Pragma-git/gitconfigs/pragma-git-config_dev_mac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include.path -- defines script, that starts pragma-merge when git calls this tool (diff or merge tool)</a:t>
            </a:r>
          </a:p>
          <a:p>
            <a:pPr marL="152550" lvl="1"/>
            <a:r>
              <a:rPr lang="en-US" sz="800" noProof="1"/>
              <a:t>[mergetool "pragma-git"]</a:t>
            </a:r>
          </a:p>
          <a:p>
            <a:pPr marL="152550" lvl="1"/>
            <a:r>
              <a:rPr lang="en-US" sz="800" noProof="1"/>
              <a:t>    cmd = "$ProgramW6432/Pragma-git/pragma-merge" "$BASE" "$LOCAL" "$REMOTE" "$MERGED"     </a:t>
            </a:r>
          </a:p>
          <a:p>
            <a:pPr marL="152550" lvl="1"/>
            <a:r>
              <a:rPr lang="en-US" sz="800" noProof="1"/>
              <a:t>     trustExitCode = true  # Says that git can pick up signal if change was saved or not</a:t>
            </a:r>
          </a:p>
          <a:p>
            <a:pPr marL="152550" lvl="1"/>
            <a:endParaRPr lang="en-US" sz="800" noProof="1"/>
          </a:p>
          <a:p>
            <a:pPr indent="-304650"/>
            <a:r>
              <a:rPr lang="en-US" sz="800" b="1" noProof="1"/>
              <a:t>Execution 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Pragma-git makes git call external diff/merge tool called ‘pragma-git’ (see above)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Git calls the bash script pragma-merge, defined above in ‘cmd =  … pragma-merge …’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script ‘pragma-merge’ stores the following variable values in files in $HOME or $USERPROFILE (Windows)  /.Pragma-git/.tmp :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first, second, third, fourth (*)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repo_path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mergelog.txt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b="1" noProof="1"/>
              <a:t>pragma-merge-running</a:t>
            </a:r>
            <a:r>
              <a:rPr lang="en-US" sz="800" noProof="1"/>
              <a:t> # Flag to start pragma-merge.js. Polled by script ‘pragma-merge’ to know when finished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Special case is editor-mode, when a new file (so there is nothing to “diff”).  Then instead </a:t>
            </a:r>
            <a:r>
              <a:rPr lang="en-US" sz="800" u="sng" noProof="1">
                <a:solidFill>
                  <a:schemeClr val="accent1"/>
                </a:solidFill>
              </a:rPr>
              <a:t>git is not </a:t>
            </a:r>
            <a:r>
              <a:rPr lang="en-US" sz="800" noProof="1">
                <a:solidFill>
                  <a:schemeClr val="accent1"/>
                </a:solidFill>
              </a:rPr>
              <a:t>used but directly calling same bash script : </a:t>
            </a:r>
            <a:r>
              <a:rPr lang="en-US" sz="800" noProof="1"/>
              <a:t>pragma-merge filename –edit  WIRTEMODE , populating parameters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first = filename (for historical commits, a temporary file is shown, taken out from git)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second = ‘—edit’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third = WIRTEMODE  ‘--rw’ or  ‘ --ro’  or ‘—show- (rw for new uncommited, show for historical, ro unused so far)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fourth = empty</a:t>
            </a:r>
          </a:p>
          <a:p>
            <a:pPr marL="152550" lvl="1"/>
            <a:r>
              <a:rPr lang="en-US" sz="800" noProof="1"/>
              <a:t>pragma-merge is then modifying its functionality and layout by hiding diff panes, and checkboxes that are not used for editor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Pragma-git listens to creation of file </a:t>
            </a:r>
            <a:r>
              <a:rPr lang="en-US" sz="800" b="1" noProof="1">
                <a:solidFill>
                  <a:schemeClr val="accent1"/>
                </a:solidFill>
              </a:rPr>
              <a:t>‘pragma-merge-running’</a:t>
            </a:r>
            <a:endParaRPr lang="en-US" sz="800" b="1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and opens pragma-merge.js with input transferred from git via files first, second, third, fourth, repo_path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when finished, the user can save, or close diff window without save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writes file ‘exit’ containing exit code 0 if saved, or 1 if not saved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file </a:t>
            </a:r>
            <a:r>
              <a:rPr lang="en-US" sz="800" b="1" noProof="1"/>
              <a:t>’pragma-merge-running</a:t>
            </a:r>
            <a:r>
              <a:rPr lang="en-US" sz="800" noProof="1"/>
              <a:t>’ is deleted to signal that ‘pragma-merge.js’ is closed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window is closed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script pragma-merge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waits for deletion of file </a:t>
            </a:r>
            <a:r>
              <a:rPr lang="en-US" sz="800" b="1" noProof="1"/>
              <a:t>‘pragma-merge-running’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reads exit code from file ‘exit’, removes file ‘exit’, and returns the exit code </a:t>
            </a:r>
            <a:br>
              <a:rPr lang="en-US" sz="800" noProof="1"/>
            </a:br>
            <a:r>
              <a:rPr lang="en-US" sz="800" noProof="1"/>
              <a:t>(=&gt; git, which started this script gets the exit code)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>
              <a:solidFill>
                <a:schemeClr val="accent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FF3040E-0B07-4743-8C2E-DEB02A9AC67D}"/>
              </a:ext>
            </a:extLst>
          </p:cNvPr>
          <p:cNvSpPr/>
          <p:nvPr/>
        </p:nvSpPr>
        <p:spPr>
          <a:xfrm>
            <a:off x="416902" y="7408417"/>
            <a:ext cx="5396401" cy="5847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Note</a:t>
            </a:r>
          </a:p>
          <a:p>
            <a:endParaRPr lang="en-US" sz="800" b="1" noProof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noProof="1"/>
              <a:t>merge folder and askpass folders have their own package.json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noProof="1"/>
              <a:t>Do not npm install </a:t>
            </a:r>
            <a:r>
              <a:rPr lang="en-US" sz="800" noProof="1"/>
              <a:t>in these, but in folder above</a:t>
            </a:r>
            <a:r>
              <a:rPr lang="en-US" sz="800" b="1" noProof="1"/>
              <a:t>.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2CC61761-C09E-854F-879E-5E98858E6D80}"/>
              </a:ext>
            </a:extLst>
          </p:cNvPr>
          <p:cNvSpPr txBox="1"/>
          <p:nvPr/>
        </p:nvSpPr>
        <p:spPr>
          <a:xfrm>
            <a:off x="6357319" y="953255"/>
            <a:ext cx="5727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askpass (integrated password dialog for git)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0FCE908-93B6-2442-9EF2-02ED84A9339A}"/>
              </a:ext>
            </a:extLst>
          </p:cNvPr>
          <p:cNvSpPr/>
          <p:nvPr/>
        </p:nvSpPr>
        <p:spPr>
          <a:xfrm>
            <a:off x="6367567" y="1472403"/>
            <a:ext cx="5396401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How it works </a:t>
            </a:r>
          </a:p>
          <a:p>
            <a:endParaRPr lang="en-US" sz="800" b="1" noProof="1"/>
          </a:p>
          <a:p>
            <a:pPr marL="171450" indent="-171450">
              <a:buFontTx/>
              <a:buChar char="-"/>
            </a:pPr>
            <a:r>
              <a:rPr lang="en-US" sz="800" noProof="1"/>
              <a:t>pragma-askpass  bash script  is initated by git</a:t>
            </a:r>
          </a:p>
          <a:p>
            <a:pPr marL="171450" indent="-171450">
              <a:buFontTx/>
              <a:buChar char="-"/>
            </a:pPr>
            <a:r>
              <a:rPr lang="en-US" sz="800" noProof="1"/>
              <a:t>pragma-askpass acts as a mediator between git and askpass.html dialog</a:t>
            </a:r>
          </a:p>
          <a:p>
            <a:pPr marL="171450" indent="-171450">
              <a:buFontTx/>
              <a:buChar char="-"/>
            </a:pPr>
            <a:r>
              <a:rPr lang="en-US" sz="800" noProof="1"/>
              <a:t>The reason for this is to 1) send entered text to stdout, and 2)  exit status which I cannot do from nwjs</a:t>
            </a:r>
          </a:p>
          <a:p>
            <a:pPr marL="171450" indent="-171450">
              <a:buFontTx/>
              <a:buChar char="-"/>
            </a:pPr>
            <a:r>
              <a:rPr lang="en-US" sz="800" b="1" noProof="1"/>
              <a:t>I had to make a bash script which places signal files, that are then picked up by pragma-git</a:t>
            </a:r>
          </a:p>
          <a:p>
            <a:br>
              <a:rPr lang="en-US" sz="800" b="1" noProof="1"/>
            </a:br>
            <a:endParaRPr lang="en-US" sz="800" noProof="1"/>
          </a:p>
          <a:p>
            <a:r>
              <a:rPr lang="en-US" sz="800" b="1" noProof="1"/>
              <a:t>Setup 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gitconfig  --global  include.path  is set when Pragma-git starts (different for Mac, Linux and Windows) </a:t>
            </a:r>
            <a:br>
              <a:rPr lang="en-US" sz="800" noProof="1">
                <a:solidFill>
                  <a:schemeClr val="accent1"/>
                </a:solidFill>
              </a:rPr>
            </a:br>
            <a:r>
              <a:rPr lang="en-US" sz="800" noProof="1"/>
              <a:t>include.path=/Users/jan/Documents/Projects/Pragma-git/Pragma-git/gitconfigs/pragma-git-config_dev_mac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core. askpass -- defines script, that starts pragma-askpass when git wants a password</a:t>
            </a:r>
          </a:p>
          <a:p>
            <a:pPr marL="152550" lvl="1"/>
            <a:r>
              <a:rPr lang="en-US" sz="800" noProof="1"/>
              <a:t>[core]</a:t>
            </a:r>
          </a:p>
          <a:p>
            <a:pPr marL="152550" lvl="1"/>
            <a:r>
              <a:rPr lang="en-US" sz="800" noProof="1"/>
              <a:t>    askpass = /Users/jan/Documents/Projects/Pragma-git/Pragma-git/pragma-askpass</a:t>
            </a:r>
          </a:p>
          <a:p>
            <a:pPr marL="152550" lvl="1"/>
            <a:endParaRPr lang="en-US" sz="800" noProof="1"/>
          </a:p>
          <a:p>
            <a:pPr indent="-304650"/>
            <a:r>
              <a:rPr lang="en-US" sz="800" b="1" noProof="1"/>
              <a:t>Execution 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Pragma-askpass makes git call external dialog called ‘pragma-askpass’ (see above)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Git calls the bash script pragma-askpass, defined above in ‘askpass=  … pragma-askpass …’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script ‘pragma-askpass’ looks for file ‘pragma-git-running’ in $HOME or $USERPROFILE (Windows)  /.Pragma-git/.tmp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script bails out if file ‘pragma-git-running’  does not exist (means pragma-git is not up)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script ‘pragma-askpass’ stores the following variable values in files in $HOME or $USERPROFILE (Windows)  /.Pragma-git/.tmp :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askpass_first (first argument from git. text asking for password), </a:t>
            </a:r>
            <a:br>
              <a:rPr lang="en-US" sz="800" noProof="1"/>
            </a:br>
            <a:r>
              <a:rPr lang="en-US" sz="800" noProof="1"/>
              <a:t>askpasslog.txt, </a:t>
            </a:r>
            <a:br>
              <a:rPr lang="en-US" sz="800" noProof="1"/>
            </a:br>
            <a:r>
              <a:rPr lang="en-US" sz="800" noProof="1"/>
              <a:t>askpass.txt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pragma-askpass-running # Flag to start pragma-merge.js. Polled by script ‘pragma-merge’ to know when finished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Pragma-git listens to creation of file ‘pragma-askpass-running’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and opens pragma-askpass.js with input transferred from git via file askpass_first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file pragma-askpass-running’ is deleted to signal that ‘pragma-askpass.js’ is closed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window is closed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script pragma-askpass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waits for deletion of file ‘pragma-askpass-running’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reads entered text in pragma-askpass.html, and sends that to stdout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reads exit code from file ‘exit’, removes file ‘exit’, and returns with the same exit code (so git can pick it up)</a:t>
            </a:r>
            <a:br>
              <a:rPr lang="en-US" sz="800" noProof="1"/>
            </a:br>
            <a:r>
              <a:rPr lang="en-US" sz="800" noProof="1"/>
              <a:t>(=&gt; git, which started this script gets the exit code)</a:t>
            </a:r>
          </a:p>
          <a:p>
            <a:endParaRPr lang="en-US" sz="800" noProof="1">
              <a:solidFill>
                <a:schemeClr val="accent1"/>
              </a:solidFill>
            </a:endParaRP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132120B0-8591-A847-B946-F0F20D7CB8D7}"/>
              </a:ext>
            </a:extLst>
          </p:cNvPr>
          <p:cNvSpPr txBox="1"/>
          <p:nvPr/>
        </p:nvSpPr>
        <p:spPr>
          <a:xfrm>
            <a:off x="416902" y="122259"/>
            <a:ext cx="52674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Git helper Windows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3576E538-76CB-5AFE-74BB-1DFB53C8F813}"/>
              </a:ext>
            </a:extLst>
          </p:cNvPr>
          <p:cNvSpPr/>
          <p:nvPr/>
        </p:nvSpPr>
        <p:spPr>
          <a:xfrm>
            <a:off x="6357319" y="6423533"/>
            <a:ext cx="5396401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Note -- Setting and removing credentials CLI:</a:t>
            </a:r>
          </a:p>
          <a:p>
            <a:endParaRPr lang="en-US" sz="800" b="1" noProof="1"/>
          </a:p>
          <a:p>
            <a:pPr indent="179388"/>
            <a:r>
              <a:rPr lang="en-US" sz="800" noProof="1"/>
              <a:t>url=https://github.com/JanAxelsson/imlook4d.git</a:t>
            </a:r>
          </a:p>
          <a:p>
            <a:pPr indent="179388"/>
            <a:endParaRPr lang="en-US" sz="800" noProof="1"/>
          </a:p>
          <a:p>
            <a:pPr indent="179388"/>
            <a:r>
              <a:rPr lang="en-US" sz="800" b="1" noProof="1"/>
              <a:t>Mac specific (</a:t>
            </a:r>
            <a:r>
              <a:rPr lang="en-US" sz="800" noProof="1"/>
              <a:t> get / store / erase)</a:t>
            </a:r>
            <a:r>
              <a:rPr lang="en-US" sz="800" b="1" noProof="1"/>
              <a:t> :</a:t>
            </a:r>
          </a:p>
          <a:p>
            <a:pPr indent="179388"/>
            <a:r>
              <a:rPr lang="en-US" sz="800" noProof="1"/>
              <a:t>echo "url=${url}" | git credential-osxkeychain get</a:t>
            </a:r>
          </a:p>
          <a:p>
            <a:pPr indent="179388"/>
            <a:endParaRPr lang="en-US" sz="800" noProof="1"/>
          </a:p>
          <a:p>
            <a:pPr indent="179388"/>
            <a:r>
              <a:rPr lang="en-US" sz="800" b="1" noProof="1"/>
              <a:t>Git general way  (</a:t>
            </a:r>
            <a:r>
              <a:rPr lang="en-US" sz="800" noProof="1"/>
              <a:t>fill / approve / reject) </a:t>
            </a:r>
            <a:r>
              <a:rPr lang="en-US" sz="800" b="1" noProof="1"/>
              <a:t> :</a:t>
            </a:r>
          </a:p>
          <a:p>
            <a:pPr indent="179388"/>
            <a:r>
              <a:rPr lang="en-US" sz="800" noProof="1"/>
              <a:t>echo "url=${url}" | git credential fill </a:t>
            </a:r>
          </a:p>
        </p:txBody>
      </p:sp>
    </p:spTree>
    <p:extLst>
      <p:ext uri="{BB962C8B-B14F-4D97-AF65-F5344CB8AC3E}">
        <p14:creationId xmlns:p14="http://schemas.microsoft.com/office/powerpoint/2010/main" val="388264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8DAA-53D0-1105-C6F2-C801F08D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84151DEA-44C4-2776-6854-868F7FB7712C}"/>
              </a:ext>
            </a:extLst>
          </p:cNvPr>
          <p:cNvSpPr txBox="1"/>
          <p:nvPr/>
        </p:nvSpPr>
        <p:spPr>
          <a:xfrm>
            <a:off x="416902" y="122259"/>
            <a:ext cx="7999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Git providers (github, gitlab,…)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ADE3883B-4E67-CF9D-9EEC-2A26C5A55CD6}"/>
              </a:ext>
            </a:extLst>
          </p:cNvPr>
          <p:cNvSpPr txBox="1"/>
          <p:nvPr/>
        </p:nvSpPr>
        <p:spPr>
          <a:xfrm>
            <a:off x="498478" y="1497415"/>
            <a:ext cx="3274288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Providers are implemented in the following way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Classes for different providers</a:t>
            </a:r>
            <a:r>
              <a:rPr lang="en-US" sz="800" noProof="1"/>
              <a:t>--  in folder apis_github_and_others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Main class</a:t>
            </a:r>
            <a:r>
              <a:rPr lang="en-US" sz="800" noProof="1"/>
              <a:t> general_git_rest_api.js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Common constructor sets :</a:t>
            </a:r>
            <a:br>
              <a:rPr lang="en-US" sz="800" noProof="1"/>
            </a:br>
            <a:r>
              <a:rPr lang="en-US" sz="800" noProof="1"/>
              <a:t> giturl, username, TOKEN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Implements fetch function :</a:t>
            </a:r>
            <a:br>
              <a:rPr lang="en-US" sz="800" noProof="1"/>
            </a:br>
            <a:r>
              <a:rPr lang="en-US" sz="800" noProof="1"/>
              <a:t> fetchWithApi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Provider-specific i</a:t>
            </a:r>
            <a:r>
              <a:rPr lang="en-US" sz="800" noProof="1"/>
              <a:t>mplemented by inheriting from general_git_rest_api.js.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Adding a new provider means to  implement the following methods</a:t>
            </a:r>
            <a:r>
              <a:rPr lang="en-US" sz="800" noProof="1"/>
              <a:t>: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Constructor – inherits from main class, but also set this.api-url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initialize – calls api and get json response from api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createRepo – creates a repository through api call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getValue – gets a number of values from json response in a standardized way (same for all providers)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getValue</a:t>
            </a:r>
            <a:r>
              <a:rPr lang="en-US" sz="800" noProof="1"/>
              <a:t> can be called with these parameters  (may be updated)</a:t>
            </a:r>
          </a:p>
          <a:p>
            <a:pPr marL="152550" lvl="1"/>
            <a:r>
              <a:rPr lang="en-US" sz="800" b="1" noProof="1"/>
              <a:t>   The following can be called without initialization (fast)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'git-username’ – username needed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'icon’ – path to 16x16 pixel icon.  Should return path to a  darkmode and lightmode icon (you can return same path, if it is a color icon that works for both). See gitlab.com.js implementation</a:t>
            </a:r>
          </a:p>
          <a:p>
            <a:pPr marL="152550" lvl="1"/>
            <a:r>
              <a:rPr lang="en-US" sz="800" b="1" noProof="1"/>
              <a:t>   The following requires a call to initialize() before accessible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'web-url’ – url to providers web page for this repo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api-url’ –url to call api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'api-status’ – status when calling api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'fork-parent’ – if a forked repo, this is the url to original repo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'is-private-repo’ -- tells if private / public repo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Icons and supporting material can be placed in the same folder: </a:t>
            </a:r>
            <a:r>
              <a:rPr lang="en-US" sz="800" noProof="1"/>
              <a:t>apis_github_and_others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943D8880-E278-C35C-CEEF-0D60AB679EF5}"/>
              </a:ext>
            </a:extLst>
          </p:cNvPr>
          <p:cNvSpPr txBox="1"/>
          <p:nvPr/>
        </p:nvSpPr>
        <p:spPr>
          <a:xfrm>
            <a:off x="336553" y="953256"/>
            <a:ext cx="3030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Provider API functions</a:t>
            </a:r>
          </a:p>
        </p:txBody>
      </p:sp>
      <p:sp>
        <p:nvSpPr>
          <p:cNvPr id="3" name="textruta 5">
            <a:extLst>
              <a:ext uri="{FF2B5EF4-FFF2-40B4-BE49-F238E27FC236}">
                <a16:creationId xmlns:a16="http://schemas.microsoft.com/office/drawing/2014/main" id="{2987841D-179A-486D-5E40-0A0422DA3632}"/>
              </a:ext>
            </a:extLst>
          </p:cNvPr>
          <p:cNvSpPr txBox="1"/>
          <p:nvPr/>
        </p:nvSpPr>
        <p:spPr>
          <a:xfrm>
            <a:off x="4270378" y="939343"/>
            <a:ext cx="272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Provider GUI wizard</a:t>
            </a:r>
          </a:p>
        </p:txBody>
      </p:sp>
      <p:sp>
        <p:nvSpPr>
          <p:cNvPr id="7" name="textruta 4">
            <a:extLst>
              <a:ext uri="{FF2B5EF4-FFF2-40B4-BE49-F238E27FC236}">
                <a16:creationId xmlns:a16="http://schemas.microsoft.com/office/drawing/2014/main" id="{0BF97886-D135-15CC-61EF-28B42C9BDBDF}"/>
              </a:ext>
            </a:extLst>
          </p:cNvPr>
          <p:cNvSpPr txBox="1"/>
          <p:nvPr/>
        </p:nvSpPr>
        <p:spPr>
          <a:xfrm>
            <a:off x="4346578" y="1497414"/>
            <a:ext cx="327428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The GUI for providers are implemented in the following way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Common html -- </a:t>
            </a:r>
            <a:r>
              <a:rPr lang="en-US" sz="800" noProof="1"/>
              <a:t>Create_remote_repository.html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Text made for Github: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One js-file -- </a:t>
            </a:r>
            <a:r>
              <a:rPr lang="en-US" sz="800" noProof="1"/>
              <a:t>create_remote_repository.js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Modifies: all text “Github”  to correct provider in html above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Switch statement setting provider-specific labels for inputs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Stores in git credentials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Mechanism for guessing TOKEN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Caches credentials for all repos, and finds the unique usernames for current provider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When user-name matches known credential, the TOKEN/password field is updated</a:t>
            </a:r>
          </a:p>
        </p:txBody>
      </p:sp>
      <p:sp>
        <p:nvSpPr>
          <p:cNvPr id="8" name="textruta 4">
            <a:extLst>
              <a:ext uri="{FF2B5EF4-FFF2-40B4-BE49-F238E27FC236}">
                <a16:creationId xmlns:a16="http://schemas.microsoft.com/office/drawing/2014/main" id="{0725C2E0-B09A-BD89-F02E-BED7F1342107}"/>
              </a:ext>
            </a:extLst>
          </p:cNvPr>
          <p:cNvSpPr txBox="1"/>
          <p:nvPr/>
        </p:nvSpPr>
        <p:spPr>
          <a:xfrm>
            <a:off x="4416875" y="4478739"/>
            <a:ext cx="327428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The GUI for providers are implemented in the following way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Color icons </a:t>
            </a:r>
            <a:r>
              <a:rPr lang="en-US" sz="800" noProof="1"/>
              <a:t>must be 16x16, RGB to work in menues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Seems that bigger matrix </a:t>
            </a:r>
            <a:r>
              <a:rPr lang="en-US" sz="800" noProof="1"/>
              <a:t>works for b/w github icon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These icons are slightly fuzzy when viewed in settings.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</p:txBody>
      </p:sp>
      <p:sp>
        <p:nvSpPr>
          <p:cNvPr id="9" name="textruta 5">
            <a:extLst>
              <a:ext uri="{FF2B5EF4-FFF2-40B4-BE49-F238E27FC236}">
                <a16:creationId xmlns:a16="http://schemas.microsoft.com/office/drawing/2014/main" id="{2DFA1971-7891-05E5-E387-70DA5165528F}"/>
              </a:ext>
            </a:extLst>
          </p:cNvPr>
          <p:cNvSpPr txBox="1"/>
          <p:nvPr/>
        </p:nvSpPr>
        <p:spPr>
          <a:xfrm>
            <a:off x="4270378" y="3749731"/>
            <a:ext cx="846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107196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48A4-4062-70FA-687B-0BDD7B494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4E4F468A-0631-842A-FCA7-FC0E33825BE9}"/>
              </a:ext>
            </a:extLst>
          </p:cNvPr>
          <p:cNvSpPr/>
          <p:nvPr/>
        </p:nvSpPr>
        <p:spPr>
          <a:xfrm>
            <a:off x="451706" y="3328078"/>
            <a:ext cx="11226129" cy="5950956"/>
          </a:xfrm>
          <a:prstGeom prst="rect">
            <a:avLst/>
          </a:prstGeom>
          <a:solidFill>
            <a:schemeClr val="bg2">
              <a:lumMod val="90000"/>
              <a:alpha val="33000"/>
            </a:scheme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A41965A-DA7A-7196-60F2-57BE4824CBCE}"/>
              </a:ext>
            </a:extLst>
          </p:cNvPr>
          <p:cNvSpPr/>
          <p:nvPr/>
        </p:nvSpPr>
        <p:spPr>
          <a:xfrm>
            <a:off x="6096044" y="3562275"/>
            <a:ext cx="5154004" cy="4462272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83423371-BCFF-813B-8CF5-793F83A1739A}"/>
              </a:ext>
            </a:extLst>
          </p:cNvPr>
          <p:cNvSpPr txBox="1"/>
          <p:nvPr/>
        </p:nvSpPr>
        <p:spPr>
          <a:xfrm>
            <a:off x="416902" y="122259"/>
            <a:ext cx="9038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Git over ssh (commands on server)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0BB3AB89-4809-925B-71E3-11418FACC157}"/>
              </a:ext>
            </a:extLst>
          </p:cNvPr>
          <p:cNvSpPr txBox="1"/>
          <p:nvPr/>
        </p:nvSpPr>
        <p:spPr>
          <a:xfrm>
            <a:off x="498478" y="1497415"/>
            <a:ext cx="327428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Running git commands transparently on a server is implemented this way :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ssh-git-client</a:t>
            </a:r>
            <a:r>
              <a:rPr lang="en-US" sz="800" noProof="1"/>
              <a:t>-  is a bash script which runs git-commands on server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simpleGit uses ssh-git-client as a new binary instead of builtin git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first argument is the ssh URL to the repo on server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Other arguments are same as for local git</a:t>
            </a: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SSH URL example format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ssh://jan@linus/usr/local/MATLAB/imlook4d/imlook4d_DEVELOP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D4CC239A-FBA7-870A-44C9-D36BD394F293}"/>
              </a:ext>
            </a:extLst>
          </p:cNvPr>
          <p:cNvSpPr txBox="1"/>
          <p:nvPr/>
        </p:nvSpPr>
        <p:spPr>
          <a:xfrm>
            <a:off x="336553" y="953256"/>
            <a:ext cx="1829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Git on server</a:t>
            </a:r>
          </a:p>
        </p:txBody>
      </p:sp>
      <p:sp>
        <p:nvSpPr>
          <p:cNvPr id="2" name="textruta 4">
            <a:extLst>
              <a:ext uri="{FF2B5EF4-FFF2-40B4-BE49-F238E27FC236}">
                <a16:creationId xmlns:a16="http://schemas.microsoft.com/office/drawing/2014/main" id="{4F8EF986-C685-6786-DD73-97E044DC219F}"/>
              </a:ext>
            </a:extLst>
          </p:cNvPr>
          <p:cNvSpPr txBox="1"/>
          <p:nvPr/>
        </p:nvSpPr>
        <p:spPr>
          <a:xfrm>
            <a:off x="599550" y="3562275"/>
            <a:ext cx="501959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Interacting with pragma-merge with git on a server is a lot more complicated, since the difftool has to send multiple files back to client’s pragma-merge.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SERVER; pragma-merge </a:t>
            </a:r>
            <a:r>
              <a:rPr lang="en-US" sz="800" noProof="1"/>
              <a:t>-  works differently on the server: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Initiated through git diff and merge commands, but over </a:t>
            </a:r>
            <a:br>
              <a:rPr lang="en-US" sz="800" noProof="1"/>
            </a:br>
            <a:r>
              <a:rPr lang="en-US" sz="800" noProof="1"/>
              <a:t>git-client-ssh instead of local git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SIGNALING FILE: $TMP/pragma-merge-running-ssh</a:t>
            </a:r>
            <a:br>
              <a:rPr lang="en-US" sz="800" noProof="1"/>
            </a:br>
            <a:r>
              <a:rPr lang="en-US" sz="800" noProof="1"/>
              <a:t>OUTPUT FILE: $FILE_LIST_ON_SSH </a:t>
            </a:r>
            <a:br>
              <a:rPr lang="en-US" sz="800" noProof="1"/>
            </a:b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Config file must contain row (note argument 5 = ‘ssh’):</a:t>
            </a:r>
            <a:br>
              <a:rPr lang="en-US" sz="800" noProof="1"/>
            </a:br>
            <a:r>
              <a:rPr lang="en-US" sz="800" noProof="1"/>
              <a:t>cmd = /home/jan/Desktop/Pragma-git-dev/pragma-merge $BASE $LOCAL $REMOTE $MERGED 'ssh'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Identifies that it is an ‘ssh’ command by argument 5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Creates signaling file $TMP/pragma-merge-running-ssh</a:t>
            </a:r>
            <a:br>
              <a:rPr lang="en-US" sz="800" noProof="1"/>
            </a:br>
            <a:r>
              <a:rPr lang="en-US" sz="800" noProof="1"/>
              <a:t>(instead of $TMP/pragma-merge-running)</a:t>
            </a:r>
            <a:br>
              <a:rPr lang="en-US" sz="800" noProof="1"/>
            </a:br>
            <a:r>
              <a:rPr lang="en-US" sz="800" noProof="1"/>
              <a:t>NOTE: stays open pragma-merge on client closes TODO!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Creates :</a:t>
            </a:r>
            <a:br>
              <a:rPr lang="en-US" sz="800" noProof="1"/>
            </a:br>
            <a:r>
              <a:rPr lang="en-US" sz="800" noProof="1"/>
              <a:t>$FILE_LIST_ON_SSH – file listing 4 files given by git difftool command : $BASE $LOCAL $REMOTE $MERGED</a:t>
            </a:r>
            <a:br>
              <a:rPr lang="en-US" sz="800" noProof="1"/>
            </a:br>
            <a:r>
              <a:rPr lang="en-US" sz="800" noProof="1"/>
              <a:t>(FILE_LIST_ON_SSH  = /tmp/test.txt)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CLIENT : ssh-git-client (when difftool or mergetool) </a:t>
            </a:r>
            <a:r>
              <a:rPr lang="en-US" sz="800" noProof="1"/>
              <a:t>starts new shell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If difftool or mergetool command, </a:t>
            </a:r>
            <a:br>
              <a:rPr lang="en-US" sz="800" noProof="1"/>
            </a:br>
            <a:r>
              <a:rPr lang="en-US" sz="800" noProof="1"/>
              <a:t>start “delayed-start-pragma-merge” in new shell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Run the git diff/merge command on server</a:t>
            </a:r>
            <a:br>
              <a:rPr lang="en-US" sz="800" noProof="1"/>
            </a:br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-&gt; CLIENT : delayed-start-pragma-merge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Waits a few second for ssh-git-client to run on server</a:t>
            </a:r>
            <a:br>
              <a:rPr lang="en-US" sz="800" noProof="1"/>
            </a:br>
            <a:r>
              <a:rPr lang="en-US" sz="800" noProof="1"/>
              <a:t>TODO: instead, check if $FILE_LIST_ON_SSH has been created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Start ssh-pragma-merge-files, to pick up files from server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-&gt; CLIENT; ssh-pragma-merge-files – </a:t>
            </a:r>
            <a:r>
              <a:rPr lang="en-US" sz="800" noProof="1"/>
              <a:t>picks up server files to client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OUTPUT FILES: </a:t>
            </a:r>
            <a:br>
              <a:rPr lang="en-US" sz="800" noProof="1"/>
            </a:br>
            <a:r>
              <a:rPr lang="en-US" sz="800" noProof="1"/>
              <a:t>$FILE_LIST_ON_SSH </a:t>
            </a:r>
            <a:br>
              <a:rPr lang="en-US" sz="800" noProof="1"/>
            </a:br>
            <a:r>
              <a:rPr lang="en-US" sz="800" noProof="1"/>
              <a:t>Files in $TEMP_FILE_LOCATION folder</a:t>
            </a:r>
            <a:br>
              <a:rPr lang="en-US" sz="800" noProof="1"/>
            </a:b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First argument = SSH URL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Picks up $FILE_LIST_ON_SSH from server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Copy 4 listed files to client folder $TEMP_FILE_LOCATION</a:t>
            </a:r>
            <a:br>
              <a:rPr lang="en-US" sz="800" noProof="1"/>
            </a:br>
            <a:r>
              <a:rPr lang="en-US" sz="800" noProof="1"/>
              <a:t>(= '/tmp/pragma-git-ssh-folders’ 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Convert $FILE_LIST_ON_SSH relative paths to $ABSOLUTE_FILE_LOCATIONS on client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CLIENT; ssh-close-pragma-merge-ssh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initiated when closing local pragma-merge window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Removes SIGNALING FILE: $TMP/pragma-merge-running-ssh on server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Removes $FILE_LIST_ON_SSH on server</a:t>
            </a:r>
          </a:p>
        </p:txBody>
      </p:sp>
      <p:sp>
        <p:nvSpPr>
          <p:cNvPr id="10" name="textruta 5">
            <a:extLst>
              <a:ext uri="{FF2B5EF4-FFF2-40B4-BE49-F238E27FC236}">
                <a16:creationId xmlns:a16="http://schemas.microsoft.com/office/drawing/2014/main" id="{888AD4D2-EC1F-D93E-0C03-32EE71D053F5}"/>
              </a:ext>
            </a:extLst>
          </p:cNvPr>
          <p:cNvSpPr txBox="1"/>
          <p:nvPr/>
        </p:nvSpPr>
        <p:spPr>
          <a:xfrm>
            <a:off x="462390" y="2889686"/>
            <a:ext cx="3176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Pragma-merge over ssh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DD6223-7018-132C-0215-5CEDAE45D71E}"/>
              </a:ext>
            </a:extLst>
          </p:cNvPr>
          <p:cNvCxnSpPr>
            <a:cxnSpLocks/>
          </p:cNvCxnSpPr>
          <p:nvPr/>
        </p:nvCxnSpPr>
        <p:spPr>
          <a:xfrm>
            <a:off x="8662374" y="3777582"/>
            <a:ext cx="0" cy="3660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DDA672-5FBE-49E1-4339-C38C0F628F39}"/>
              </a:ext>
            </a:extLst>
          </p:cNvPr>
          <p:cNvCxnSpPr>
            <a:cxnSpLocks/>
          </p:cNvCxnSpPr>
          <p:nvPr/>
        </p:nvCxnSpPr>
        <p:spPr>
          <a:xfrm>
            <a:off x="8607627" y="3793130"/>
            <a:ext cx="0" cy="3660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171B19D-1094-8E83-91A6-310B6F4C49B2}"/>
              </a:ext>
            </a:extLst>
          </p:cNvPr>
          <p:cNvSpPr txBox="1"/>
          <p:nvPr/>
        </p:nvSpPr>
        <p:spPr>
          <a:xfrm>
            <a:off x="6729172" y="3670019"/>
            <a:ext cx="5723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noProof="1"/>
              <a:t>CLIENT</a:t>
            </a:r>
            <a:endParaRPr lang="en-US" sz="1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0136D7-C5AA-7877-0320-1A2EF067C287}"/>
              </a:ext>
            </a:extLst>
          </p:cNvPr>
          <p:cNvSpPr txBox="1"/>
          <p:nvPr/>
        </p:nvSpPr>
        <p:spPr>
          <a:xfrm>
            <a:off x="9281254" y="3639459"/>
            <a:ext cx="8207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noProof="1"/>
              <a:t>SERVER</a:t>
            </a:r>
            <a:endParaRPr lang="en-US" sz="1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660ABB-182B-9D0E-3E01-E1CD397DF493}"/>
              </a:ext>
            </a:extLst>
          </p:cNvPr>
          <p:cNvSpPr txBox="1"/>
          <p:nvPr/>
        </p:nvSpPr>
        <p:spPr>
          <a:xfrm>
            <a:off x="6398112" y="4092381"/>
            <a:ext cx="2017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ssh-git-client ...</a:t>
            </a:r>
            <a:br>
              <a:rPr lang="en-US" sz="1000" noProof="1">
                <a:solidFill>
                  <a:schemeClr val="accent1"/>
                </a:solidFill>
              </a:rPr>
            </a:br>
            <a:r>
              <a:rPr lang="en-US" sz="1000" noProof="1">
                <a:solidFill>
                  <a:schemeClr val="accent1"/>
                </a:solidFill>
              </a:rPr>
              <a:t>…difftool –tool pragma-merge ….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48E1E5-4708-8811-A2C3-E6832D47D186}"/>
              </a:ext>
            </a:extLst>
          </p:cNvPr>
          <p:cNvSpPr txBox="1"/>
          <p:nvPr/>
        </p:nvSpPr>
        <p:spPr>
          <a:xfrm>
            <a:off x="6316175" y="6954099"/>
            <a:ext cx="19335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User closing pragma-merge , runs</a:t>
            </a:r>
          </a:p>
          <a:p>
            <a:r>
              <a:rPr lang="en-US" sz="1000" noProof="1">
                <a:solidFill>
                  <a:schemeClr val="accent1"/>
                </a:solidFill>
              </a:rPr>
              <a:t>ssh-close-pragma-merge-ssh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3F1E9-ED83-A50E-4EC1-55B9E8B4303A}"/>
              </a:ext>
            </a:extLst>
          </p:cNvPr>
          <p:cNvSpPr txBox="1"/>
          <p:nvPr/>
        </p:nvSpPr>
        <p:spPr>
          <a:xfrm>
            <a:off x="6450266" y="4610042"/>
            <a:ext cx="19335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delayed-start-pragma-merge</a:t>
            </a:r>
            <a:endParaRPr 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61B8D8-3994-94CC-FC6D-C267418FEE83}"/>
              </a:ext>
            </a:extLst>
          </p:cNvPr>
          <p:cNvSpPr txBox="1"/>
          <p:nvPr/>
        </p:nvSpPr>
        <p:spPr>
          <a:xfrm>
            <a:off x="6520892" y="5394482"/>
            <a:ext cx="15273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ssh-pragma-merge-files</a:t>
            </a: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4ED13C-32DC-0FB1-B3B7-5BC6F4EE854C}"/>
              </a:ext>
            </a:extLst>
          </p:cNvPr>
          <p:cNvSpPr txBox="1"/>
          <p:nvPr/>
        </p:nvSpPr>
        <p:spPr>
          <a:xfrm>
            <a:off x="8730617" y="4996254"/>
            <a:ext cx="10074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Pragma-merge</a:t>
            </a:r>
            <a:endParaRPr 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EB1486-6DBD-0ACE-D455-C6B6EFA9C921}"/>
              </a:ext>
            </a:extLst>
          </p:cNvPr>
          <p:cNvSpPr txBox="1"/>
          <p:nvPr/>
        </p:nvSpPr>
        <p:spPr>
          <a:xfrm>
            <a:off x="9063029" y="4478912"/>
            <a:ext cx="1348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$BASE, $LOCAL, $REMOTE, $MERGED</a:t>
            </a:r>
            <a:endParaRPr 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632211-FD9F-9528-0621-7867C8F1306F}"/>
              </a:ext>
            </a:extLst>
          </p:cNvPr>
          <p:cNvSpPr txBox="1"/>
          <p:nvPr/>
        </p:nvSpPr>
        <p:spPr>
          <a:xfrm>
            <a:off x="6483101" y="6442409"/>
            <a:ext cx="10074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pragma-merge</a:t>
            </a:r>
            <a:endParaRPr lang="en-US" sz="10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BE719B7-B585-1413-3EBC-825AA7D8846B}"/>
              </a:ext>
            </a:extLst>
          </p:cNvPr>
          <p:cNvCxnSpPr>
            <a:cxnSpLocks/>
          </p:cNvCxnSpPr>
          <p:nvPr/>
        </p:nvCxnSpPr>
        <p:spPr>
          <a:xfrm>
            <a:off x="6818173" y="4946241"/>
            <a:ext cx="0" cy="49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77A5128-E8B7-5834-2321-F1AF04ED1419}"/>
              </a:ext>
            </a:extLst>
          </p:cNvPr>
          <p:cNvSpPr txBox="1"/>
          <p:nvPr/>
        </p:nvSpPr>
        <p:spPr>
          <a:xfrm>
            <a:off x="9139275" y="5193914"/>
            <a:ext cx="23173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$TMP/pragma-merge-running-ssh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73D0FC-C31D-2BD7-5554-ACD7B5EE87D9}"/>
              </a:ext>
            </a:extLst>
          </p:cNvPr>
          <p:cNvSpPr txBox="1"/>
          <p:nvPr/>
        </p:nvSpPr>
        <p:spPr>
          <a:xfrm>
            <a:off x="9139275" y="5408002"/>
            <a:ext cx="23173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$FILE_LIST_ON_SSH</a:t>
            </a:r>
          </a:p>
          <a:p>
            <a:r>
              <a:rPr lang="en-US" sz="1000" noProof="1"/>
              <a:t>(list of $BASE, …, $MERGED)</a:t>
            </a:r>
            <a:endParaRPr lang="en-US" sz="10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A72B33F-8720-5478-7BE4-58A901E1E409}"/>
              </a:ext>
            </a:extLst>
          </p:cNvPr>
          <p:cNvCxnSpPr>
            <a:cxnSpLocks/>
          </p:cNvCxnSpPr>
          <p:nvPr/>
        </p:nvCxnSpPr>
        <p:spPr>
          <a:xfrm>
            <a:off x="6729172" y="5673826"/>
            <a:ext cx="0" cy="790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1C0E38B-FEC3-0661-0883-6B52B7D25C76}"/>
              </a:ext>
            </a:extLst>
          </p:cNvPr>
          <p:cNvSpPr txBox="1"/>
          <p:nvPr/>
        </p:nvSpPr>
        <p:spPr>
          <a:xfrm>
            <a:off x="6742370" y="5613252"/>
            <a:ext cx="2145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Download $FILE_LIST_ON_SSH to</a:t>
            </a:r>
            <a:br>
              <a:rPr lang="en-US" sz="1000" noProof="1"/>
            </a:br>
            <a:r>
              <a:rPr lang="en-US" sz="1000" noProof="1"/>
              <a:t>$TEMP_FILE_LOCATION</a:t>
            </a:r>
            <a:endParaRPr 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D01BB4-853E-EDB9-0FB1-56005E292D73}"/>
              </a:ext>
            </a:extLst>
          </p:cNvPr>
          <p:cNvSpPr txBox="1"/>
          <p:nvPr/>
        </p:nvSpPr>
        <p:spPr>
          <a:xfrm>
            <a:off x="8752878" y="4083946"/>
            <a:ext cx="2370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git difftool –tool pragma-merge ….</a:t>
            </a:r>
            <a:br>
              <a:rPr lang="en-US" sz="1000" noProof="1">
                <a:solidFill>
                  <a:schemeClr val="accent1"/>
                </a:solidFill>
              </a:rPr>
            </a:br>
            <a:r>
              <a:rPr lang="en-US" sz="1000" noProof="1">
                <a:solidFill>
                  <a:schemeClr val="accent1"/>
                </a:solidFill>
              </a:rPr>
              <a:t>              Generates temp-files:</a:t>
            </a:r>
            <a:endParaRPr lang="en-US" sz="10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23F2FBD-ED69-F293-9816-58ECA6943E7B}"/>
              </a:ext>
            </a:extLst>
          </p:cNvPr>
          <p:cNvCxnSpPr>
            <a:cxnSpLocks/>
          </p:cNvCxnSpPr>
          <p:nvPr/>
        </p:nvCxnSpPr>
        <p:spPr>
          <a:xfrm>
            <a:off x="8972052" y="4318770"/>
            <a:ext cx="0" cy="726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5CCCFA7F-13DB-D954-5F20-89FE38ABC7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136388" y="4647961"/>
            <a:ext cx="2279630" cy="1234283"/>
          </a:xfrm>
          <a:prstGeom prst="bentConnector3">
            <a:avLst>
              <a:gd name="adj1" fmla="val -29674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38B10A2-02E3-7441-F8D6-0840D96F9BF6}"/>
              </a:ext>
            </a:extLst>
          </p:cNvPr>
          <p:cNvCxnSpPr>
            <a:cxnSpLocks/>
          </p:cNvCxnSpPr>
          <p:nvPr/>
        </p:nvCxnSpPr>
        <p:spPr>
          <a:xfrm flipH="1">
            <a:off x="7867597" y="5510256"/>
            <a:ext cx="1271678" cy="156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A781A0F-F4DC-7C9E-1FB2-7158F21FDFFC}"/>
              </a:ext>
            </a:extLst>
          </p:cNvPr>
          <p:cNvSpPr txBox="1"/>
          <p:nvPr/>
        </p:nvSpPr>
        <p:spPr>
          <a:xfrm>
            <a:off x="6748642" y="6601328"/>
            <a:ext cx="17624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$ABSOLUTE_FILE_LOCATIONS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618C09-2663-5F67-3D91-7E50361E0D84}"/>
              </a:ext>
            </a:extLst>
          </p:cNvPr>
          <p:cNvSpPr txBox="1"/>
          <p:nvPr/>
        </p:nvSpPr>
        <p:spPr>
          <a:xfrm>
            <a:off x="8937565" y="7133618"/>
            <a:ext cx="23173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$TMP/pragma-merge-running-ssh</a:t>
            </a:r>
          </a:p>
          <a:p>
            <a:r>
              <a:rPr lang="en-US" sz="1000" noProof="1"/>
              <a:t>(remove signaling file, </a:t>
            </a:r>
            <a:br>
              <a:rPr lang="en-US" sz="1000" noProof="1"/>
            </a:br>
            <a:r>
              <a:rPr lang="en-US" sz="1000" noProof="1"/>
              <a:t>which close git difftool,</a:t>
            </a:r>
            <a:br>
              <a:rPr lang="en-US" sz="1000" noProof="1"/>
            </a:br>
            <a:r>
              <a:rPr lang="en-US" sz="1000" noProof="1"/>
              <a:t>which removes temp-files)</a:t>
            </a:r>
            <a:endParaRPr lang="en-US" sz="1000" dirty="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0CD306D-9270-4B65-82C0-765ABFC09271}"/>
              </a:ext>
            </a:extLst>
          </p:cNvPr>
          <p:cNvGrpSpPr/>
          <p:nvPr/>
        </p:nvGrpSpPr>
        <p:grpSpPr>
          <a:xfrm>
            <a:off x="9029193" y="7201954"/>
            <a:ext cx="1796511" cy="122851"/>
            <a:chOff x="6875510" y="8853970"/>
            <a:chExt cx="1796511" cy="122851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24F06F0-49FF-E61B-3D5F-2AC786B3394B}"/>
                </a:ext>
              </a:extLst>
            </p:cNvPr>
            <p:cNvCxnSpPr>
              <a:cxnSpLocks/>
            </p:cNvCxnSpPr>
            <p:nvPr/>
          </p:nvCxnSpPr>
          <p:spPr>
            <a:xfrm>
              <a:off x="6875510" y="8853970"/>
              <a:ext cx="1796511" cy="1228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4E50141-491C-C131-7192-8561BF572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90075" y="8853970"/>
              <a:ext cx="1696517" cy="1228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CA630EE-0C17-1BD7-CA20-1BFFF039B2D7}"/>
              </a:ext>
            </a:extLst>
          </p:cNvPr>
          <p:cNvCxnSpPr>
            <a:cxnSpLocks/>
          </p:cNvCxnSpPr>
          <p:nvPr/>
        </p:nvCxnSpPr>
        <p:spPr>
          <a:xfrm flipV="1">
            <a:off x="7998776" y="7248660"/>
            <a:ext cx="912866" cy="814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8CDA59-4306-7694-39FE-F77F19A86D31}"/>
              </a:ext>
            </a:extLst>
          </p:cNvPr>
          <p:cNvSpPr txBox="1"/>
          <p:nvPr/>
        </p:nvSpPr>
        <p:spPr>
          <a:xfrm>
            <a:off x="6742370" y="5990542"/>
            <a:ext cx="1906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Make absolute paths of these in </a:t>
            </a:r>
            <a:br>
              <a:rPr lang="en-US" sz="1000" noProof="1"/>
            </a:br>
            <a:r>
              <a:rPr lang="en-US" sz="1000" noProof="1"/>
              <a:t>$ABSOLUTE_FILE_LOCATIONS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D05C266-01F6-F76D-D8F4-B73A83F678E7}"/>
              </a:ext>
            </a:extLst>
          </p:cNvPr>
          <p:cNvCxnSpPr>
            <a:cxnSpLocks/>
          </p:cNvCxnSpPr>
          <p:nvPr/>
        </p:nvCxnSpPr>
        <p:spPr>
          <a:xfrm flipV="1">
            <a:off x="8136388" y="4220299"/>
            <a:ext cx="635279" cy="98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C06213A-570A-2B83-9122-ABF77924BFCA}"/>
              </a:ext>
            </a:extLst>
          </p:cNvPr>
          <p:cNvCxnSpPr>
            <a:cxnSpLocks/>
          </p:cNvCxnSpPr>
          <p:nvPr/>
        </p:nvCxnSpPr>
        <p:spPr>
          <a:xfrm>
            <a:off x="6470853" y="7747611"/>
            <a:ext cx="247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4AE73E9-94DA-8070-100A-50CBB784CFA3}"/>
              </a:ext>
            </a:extLst>
          </p:cNvPr>
          <p:cNvCxnSpPr>
            <a:cxnSpLocks/>
          </p:cNvCxnSpPr>
          <p:nvPr/>
        </p:nvCxnSpPr>
        <p:spPr>
          <a:xfrm>
            <a:off x="6483578" y="7900262"/>
            <a:ext cx="25235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D66560C-3E53-AE28-C998-53DE7641AE5E}"/>
              </a:ext>
            </a:extLst>
          </p:cNvPr>
          <p:cNvSpPr txBox="1"/>
          <p:nvPr/>
        </p:nvSpPr>
        <p:spPr>
          <a:xfrm>
            <a:off x="6687254" y="7619678"/>
            <a:ext cx="10398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commands</a:t>
            </a:r>
          </a:p>
          <a:p>
            <a:r>
              <a:rPr lang="en-US" sz="1000" noProof="1">
                <a:solidFill>
                  <a:schemeClr val="accent1"/>
                </a:solidFill>
              </a:rPr>
              <a:t>file operations</a:t>
            </a:r>
            <a:endParaRPr lang="en-US" sz="10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906DC65-386F-A065-C39D-E8F9213D6FA3}"/>
              </a:ext>
            </a:extLst>
          </p:cNvPr>
          <p:cNvSpPr txBox="1"/>
          <p:nvPr/>
        </p:nvSpPr>
        <p:spPr>
          <a:xfrm>
            <a:off x="10554968" y="4039443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3A75491-E066-021D-9B1B-CCADDB40C015}"/>
              </a:ext>
            </a:extLst>
          </p:cNvPr>
          <p:cNvSpPr txBox="1"/>
          <p:nvPr/>
        </p:nvSpPr>
        <p:spPr>
          <a:xfrm>
            <a:off x="6193794" y="8117958"/>
            <a:ext cx="54840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/>
              <a:t>*)  NOTE, git difftool waits until pragma-merge is closed. That’s why I start a delayed local</a:t>
            </a:r>
          </a:p>
          <a:p>
            <a:r>
              <a:rPr lang="en-US" sz="1000" noProof="1"/>
              <a:t> pick-up of files -- to give server difftool time to generate BASE, … .</a:t>
            </a:r>
            <a:endParaRPr lang="en-US" sz="10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EC5E2B6-56D8-2950-2989-2CA956431A57}"/>
              </a:ext>
            </a:extLst>
          </p:cNvPr>
          <p:cNvSpPr txBox="1"/>
          <p:nvPr/>
        </p:nvSpPr>
        <p:spPr>
          <a:xfrm>
            <a:off x="7972947" y="4546745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*)</a:t>
            </a:r>
          </a:p>
        </p:txBody>
      </p: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E2C22964-1A79-DF6F-11CB-AA2ED2389F3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398112" y="4219283"/>
            <a:ext cx="61298" cy="504725"/>
          </a:xfrm>
          <a:prstGeom prst="bentConnector3">
            <a:avLst>
              <a:gd name="adj1" fmla="val -372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71DA6D7-CCD9-ADBB-97CA-8528B218DF66}"/>
              </a:ext>
            </a:extLst>
          </p:cNvPr>
          <p:cNvSpPr txBox="1"/>
          <p:nvPr/>
        </p:nvSpPr>
        <p:spPr>
          <a:xfrm>
            <a:off x="6886416" y="5026821"/>
            <a:ext cx="6960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noProof="1">
                <a:solidFill>
                  <a:schemeClr val="accent1"/>
                </a:solidFill>
              </a:rPr>
              <a:t>(wait 2 s)</a:t>
            </a:r>
            <a:endParaRPr lang="en-US" sz="1000" dirty="0"/>
          </a:p>
        </p:txBody>
      </p:sp>
      <p:sp>
        <p:nvSpPr>
          <p:cNvPr id="154" name="Right Brace 153">
            <a:extLst>
              <a:ext uri="{FF2B5EF4-FFF2-40B4-BE49-F238E27FC236}">
                <a16:creationId xmlns:a16="http://schemas.microsoft.com/office/drawing/2014/main" id="{8581082B-D67F-93AE-F34A-EE44EE6041E9}"/>
              </a:ext>
            </a:extLst>
          </p:cNvPr>
          <p:cNvSpPr/>
          <p:nvPr/>
        </p:nvSpPr>
        <p:spPr>
          <a:xfrm>
            <a:off x="10232136" y="4496533"/>
            <a:ext cx="138162" cy="39337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7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4AD88DAB-01A9-A441-A11C-9B4000367464}"/>
              </a:ext>
            </a:extLst>
          </p:cNvPr>
          <p:cNvSpPr txBox="1"/>
          <p:nvPr/>
        </p:nvSpPr>
        <p:spPr>
          <a:xfrm>
            <a:off x="489993" y="887480"/>
            <a:ext cx="109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History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298B066-77DC-F744-A641-81AB722329F0}"/>
              </a:ext>
            </a:extLst>
          </p:cNvPr>
          <p:cNvSpPr/>
          <p:nvPr/>
        </p:nvSpPr>
        <p:spPr>
          <a:xfrm>
            <a:off x="489993" y="1361519"/>
            <a:ext cx="3685232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History is browsed with arrow buttons</a:t>
            </a:r>
          </a:p>
          <a:p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History signaled by getMode() == “HISTORY”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History list can be shortened by </a:t>
            </a:r>
            <a:r>
              <a:rPr lang="en-US" sz="800" b="1" noProof="1"/>
              <a:t>Search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History snapshot is compared with previous commit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History snapshot can compare with “pinned” commit (=fixed commit)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gitHistory()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returns history, both with and without search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localState keeps track of where you are in history</a:t>
            </a:r>
            <a:r>
              <a:rPr lang="en-US" sz="800" noProof="1"/>
              <a:t>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.historyNumber (-1 if not browsing history, index to 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.historyHash (hash of commit)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.historyString (descriptive text for messsage window)</a:t>
            </a:r>
            <a:br>
              <a:rPr lang="en-US" sz="800" noProof="1"/>
            </a:b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.pinnedCommit=”” (means ordinary history)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.pinnedCommit=hash (means pinned history)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gitShowHistorical(commit) </a:t>
            </a: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returns status_data with changed file info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if pinned, the status_data is relative pinned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The status_data will always be comparison between newest and oldest of the two commits (showing change going forward in time)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if not-pinned, status_data is relative previous commit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localState.history_status_data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C15FF9A1-43E2-7348-9382-D2ADB3B355C8}"/>
              </a:ext>
            </a:extLst>
          </p:cNvPr>
          <p:cNvSpPr/>
          <p:nvPr/>
        </p:nvSpPr>
        <p:spPr>
          <a:xfrm>
            <a:off x="4489123" y="3848849"/>
            <a:ext cx="3372291" cy="243143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Settings are loaded at Pragma-git start, and updated from Settings window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Handling of settings in app.js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loadSettings is called on Pragma-git start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reads settings from settings.json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stores settings in global.state in predefined order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updateWithNewSettings is called :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from loadSettings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when leaving Settings window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settings are saved when closing Pragma-git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debug flags : 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state.debug (main, enable git debug flags)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state.graph.debug</a:t>
            </a:r>
            <a:br>
              <a:rPr lang="en-US" sz="800" noProof="1"/>
            </a:br>
            <a:r>
              <a:rPr lang="en-US" sz="800" noProof="1"/>
              <a:t>are both read-only. Change directly in settings.json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Settings window  settings.html :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is populated from global.state </a:t>
            </a:r>
            <a:br>
              <a:rPr lang="en-US" sz="800" noProof="1"/>
            </a:br>
            <a:r>
              <a:rPr lang="en-US" sz="800" noProof="1"/>
              <a:t>when   settings.js/injectIntoSettingsJs is called from settings.html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closeWindow stores data in global.state before closing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9D47FF24-DA49-8046-9CB0-28C71CB63318}"/>
              </a:ext>
            </a:extLst>
          </p:cNvPr>
          <p:cNvSpPr txBox="1"/>
          <p:nvPr/>
        </p:nvSpPr>
        <p:spPr>
          <a:xfrm>
            <a:off x="4447440" y="3416887"/>
            <a:ext cx="1204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Settings</a:t>
            </a: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9192722C-8F33-C74E-A8DA-E92B802175F0}"/>
              </a:ext>
            </a:extLst>
          </p:cNvPr>
          <p:cNvSpPr txBox="1"/>
          <p:nvPr/>
        </p:nvSpPr>
        <p:spPr>
          <a:xfrm>
            <a:off x="489993" y="4804493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Dark mode</a:t>
            </a: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0C6FE680-6AF2-4545-AE31-D52F0731E861}"/>
              </a:ext>
            </a:extLst>
          </p:cNvPr>
          <p:cNvSpPr/>
          <p:nvPr/>
        </p:nvSpPr>
        <p:spPr>
          <a:xfrm>
            <a:off x="489993" y="5244410"/>
            <a:ext cx="3685232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b="1" noProof="1"/>
              <a:t>Dark / light mode is defined from color_styles.css using css variables</a:t>
            </a:r>
          </a:p>
          <a:p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The mechanism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&lt;body&gt; of each document is predefined with class=“light”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script after &lt;body&gt;  adds a class=”dark” if dark mode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darkmode is defined by localState.dark (true if darkmode, false if light)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 localState.dark is set from value of state.darkmode setting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Main app :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Main. window is mostly constant (except for text-fields and input texts)</a:t>
            </a:r>
            <a:br>
              <a:rPr lang="en-US" sz="800" noProof="1"/>
            </a:b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Other windows behaves differently :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Have styles reading css variables from color_styles.css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A general img invert filter is applied which transforms black icons to white </a:t>
            </a:r>
            <a:br>
              <a:rPr lang="en-US" sz="800" noProof="1"/>
            </a:br>
            <a:r>
              <a:rPr lang="en-US" sz="800" noProof="1"/>
              <a:t>(exceptions for color icons are defined in each document’s style section)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r>
              <a:rPr lang="en-US" sz="800" noProof="1">
                <a:solidFill>
                  <a:schemeClr val="accent1"/>
                </a:solidFill>
              </a:rPr>
              <a:t>Merge and Notes windows :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Merge: hacked the CodeMirror css in pragma-merge.html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Notes: hacked ToastUI editor css in notes.html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Both have special css for icons and text-based buttons</a:t>
            </a: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DB0E46F-C9CA-A948-A22C-D89EEA13217F}"/>
              </a:ext>
            </a:extLst>
          </p:cNvPr>
          <p:cNvSpPr/>
          <p:nvPr/>
        </p:nvSpPr>
        <p:spPr>
          <a:xfrm>
            <a:off x="4496434" y="6939072"/>
            <a:ext cx="3364980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Notes, Graph window, Pragma-merge 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Based on npm find-in-nw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Extend npm find-in-nw on the fly, with “extend_find-in-nw.js”</a:t>
            </a:r>
            <a:br>
              <a:rPr lang="en-US" sz="800" noProof="1"/>
            </a:br>
            <a:r>
              <a:rPr lang="en-US" sz="800" noProof="1"/>
              <a:t>- make search case insensitive, add navigation CTRL-G, ↑,↓</a:t>
            </a:r>
            <a:br>
              <a:rPr lang="en-US" sz="800" noProof="1"/>
            </a:br>
            <a:r>
              <a:rPr lang="en-US" sz="800" noProof="1"/>
              <a:t>- in Graph : searches document.body</a:t>
            </a:r>
            <a:br>
              <a:rPr lang="en-US" sz="800" noProof="1"/>
            </a:br>
            <a:r>
              <a:rPr lang="en-US" sz="800" noProof="1"/>
              <a:t>- in Notes : search depends on wysiwyg / markdown modes</a:t>
            </a:r>
            <a:br>
              <a:rPr lang="en-US" sz="800" noProof="1"/>
            </a:br>
            <a:r>
              <a:rPr lang="en-US" sz="800" noProof="1"/>
              <a:t>- in Pragma-merge : editor id in pragmaMergeSearchInEditorId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Code added at end of Notes.html, graph.html, pragma-merge.html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Notes window extra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“Notes.html” : Listen to mouseover on markdown/wysiwyg switches</a:t>
            </a:r>
            <a:br>
              <a:rPr lang="en-US" sz="800" noProof="1"/>
            </a:br>
            <a:r>
              <a:rPr lang="en-US" sz="800" noProof="1"/>
              <a:t>and clear marked finds (“tokens”), before switching.</a:t>
            </a:r>
            <a:br>
              <a:rPr lang="en-US" sz="800" noProof="1"/>
            </a:br>
            <a:r>
              <a:rPr lang="en-US" sz="800" noProof="1"/>
              <a:t>Then close search box.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r>
              <a:rPr lang="en-US" sz="800" noProof="1"/>
              <a:t>“Notes.js” : Stop save from happening if find is active</a:t>
            </a:r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  <a:p>
            <a:pPr marL="324000" lvl="1" indent="-171450">
              <a:buFont typeface="Arial" panose="020B0604020202020204" pitchFamily="34" charset="0"/>
              <a:buChar char="•"/>
            </a:pPr>
            <a:endParaRPr lang="en-US" sz="800" noProof="1"/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A7C2C043-D2F7-C944-B558-2BA54F5E7D29}"/>
              </a:ext>
            </a:extLst>
          </p:cNvPr>
          <p:cNvSpPr txBox="1"/>
          <p:nvPr/>
        </p:nvSpPr>
        <p:spPr>
          <a:xfrm>
            <a:off x="4447440" y="6494382"/>
            <a:ext cx="1704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Find in html</a:t>
            </a: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116B39BA-29B4-7748-8FA3-5994271F75AA}"/>
              </a:ext>
            </a:extLst>
          </p:cNvPr>
          <p:cNvSpPr/>
          <p:nvPr/>
        </p:nvSpPr>
        <p:spPr>
          <a:xfrm>
            <a:off x="465896" y="8400871"/>
            <a:ext cx="368523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800" noProof="1">
                <a:solidFill>
                  <a:schemeClr val="accent1"/>
                </a:solidFill>
              </a:rPr>
              <a:t>About.html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is self-contained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inserts “about_search.html” in div, to have same text here as in help for history search.</a:t>
            </a:r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about_search.html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is self-contained</a:t>
            </a:r>
            <a:endParaRPr lang="en-US" sz="800" noProof="1">
              <a:solidFill>
                <a:schemeClr val="accent1"/>
              </a:solidFill>
            </a:endParaRPr>
          </a:p>
          <a:p>
            <a:r>
              <a:rPr lang="en-US" sz="800" noProof="1">
                <a:solidFill>
                  <a:schemeClr val="accent1"/>
                </a:solidFill>
              </a:rPr>
              <a:t>Other help texts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HELP/TEMPLATE_help.html &lt;div id="inner-content"&gt;, is replaced with text from HELP/ by app.js</a:t>
            </a:r>
          </a:p>
        </p:txBody>
      </p:sp>
      <p:sp>
        <p:nvSpPr>
          <p:cNvPr id="21" name="textruta 20">
            <a:extLst>
              <a:ext uri="{FF2B5EF4-FFF2-40B4-BE49-F238E27FC236}">
                <a16:creationId xmlns:a16="http://schemas.microsoft.com/office/drawing/2014/main" id="{7DE9AEB1-C5B0-C249-BF18-9D6FEFA03971}"/>
              </a:ext>
            </a:extLst>
          </p:cNvPr>
          <p:cNvSpPr txBox="1"/>
          <p:nvPr/>
        </p:nvSpPr>
        <p:spPr>
          <a:xfrm>
            <a:off x="416902" y="7929139"/>
            <a:ext cx="885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1"/>
              <a:t>Help</a:t>
            </a: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AF028C6E-A947-D149-8E6C-A4419B0C31F8}"/>
              </a:ext>
            </a:extLst>
          </p:cNvPr>
          <p:cNvSpPr txBox="1"/>
          <p:nvPr/>
        </p:nvSpPr>
        <p:spPr>
          <a:xfrm>
            <a:off x="416902" y="122259"/>
            <a:ext cx="4211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Other Windows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9851A2CD-4B90-C07F-1152-611E6755CCD9}"/>
              </a:ext>
            </a:extLst>
          </p:cNvPr>
          <p:cNvSpPr txBox="1"/>
          <p:nvPr/>
        </p:nvSpPr>
        <p:spPr>
          <a:xfrm>
            <a:off x="4489123" y="1381925"/>
            <a:ext cx="3274288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Explicitly defined in .html file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This is for dialogs with predefined content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Shows as html-dialog , inside main app.js window</a:t>
            </a:r>
            <a:endParaRPr lang="en-US" sz="800" b="1" noProof="1"/>
          </a:p>
          <a:p>
            <a:endParaRPr lang="en-US" sz="800" noProof="1"/>
          </a:p>
          <a:p>
            <a:r>
              <a:rPr lang="en-US" sz="800" b="1" noProof="1"/>
              <a:t>Template-dialog in.html file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Local to app.html, and settings.html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displayAlert(title, message)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Shows as html-dialog , inside main window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b="1" noProof="1"/>
          </a:p>
          <a:p>
            <a:r>
              <a:rPr lang="en-US" sz="800" b="1" noProof="1"/>
              <a:t>exernalDialog.html (sizing performed in app.html)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displayLongAlert(title, message, type)</a:t>
            </a:r>
            <a:br>
              <a:rPr lang="en-US" sz="800" noProof="1"/>
            </a:br>
            <a:r>
              <a:rPr lang="en-US" sz="800" noProof="1"/>
              <a:t>defined in app.js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Shows as external window, on top of main  app.js window</a:t>
            </a:r>
            <a:br>
              <a:rPr lang="en-US" sz="800" noProof="1"/>
            </a:br>
            <a:br>
              <a:rPr lang="en-US" sz="800" noProof="1"/>
            </a:br>
            <a:endParaRPr lang="en-US" sz="800" noProof="1"/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06DEBF44-050B-2220-C4D8-56D460476702}"/>
              </a:ext>
            </a:extLst>
          </p:cNvPr>
          <p:cNvSpPr txBox="1"/>
          <p:nvPr/>
        </p:nvSpPr>
        <p:spPr>
          <a:xfrm>
            <a:off x="4489123" y="841210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Dialogs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A188559A-F5E8-46DD-F138-41217EC70A89}"/>
              </a:ext>
            </a:extLst>
          </p:cNvPr>
          <p:cNvSpPr txBox="1"/>
          <p:nvPr/>
        </p:nvSpPr>
        <p:spPr>
          <a:xfrm>
            <a:off x="8256717" y="4608845"/>
            <a:ext cx="3274288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Windows menu (MacOS only):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initializeWindowMenu</a:t>
            </a:r>
            <a:r>
              <a:rPr lang="en-US" sz="800" noProof="1"/>
              <a:t>: creates default MacOs menu in native language. Windows menu is recreated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addWindowMenu</a:t>
            </a:r>
            <a:r>
              <a:rPr lang="en-US" sz="800" noProof="1"/>
              <a:t> : stores the submenu handle with the title as key window_menu_handles_mapping[title]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deleteWindowMenu </a:t>
            </a:r>
            <a:r>
              <a:rPr lang="en-US" sz="800" noProof="1"/>
              <a:t>: close using window title to find submenu handle.  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recreateAllWindowsMenu </a:t>
            </a:r>
            <a:r>
              <a:rPr lang="en-US" sz="800" noProof="1"/>
              <a:t>: generates a populated MacOS window menu from scratch (used by Main when restarting after Settings scale change)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gui.Window.getAll</a:t>
            </a:r>
            <a:r>
              <a:rPr lang="en-US" sz="800" noProof="1"/>
              <a:t> is used several places to find open windows (and child windows that are not supposed to be in the windows menu).  A function is called that iterates each found window, and performs the action.  See ‘minimizeWindow’, ‘closeAllWindows’, ‘hideAllWindows’,’ showAllWindows’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4108F045-DC67-5945-2D67-046A62557881}"/>
              </a:ext>
            </a:extLst>
          </p:cNvPr>
          <p:cNvSpPr txBox="1"/>
          <p:nvPr/>
        </p:nvSpPr>
        <p:spPr>
          <a:xfrm>
            <a:off x="8173611" y="4017061"/>
            <a:ext cx="397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Windows menu (MacOS only)</a:t>
            </a: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C2961014-07D4-C6A9-2F8B-DEB31EC6254D}"/>
              </a:ext>
            </a:extLst>
          </p:cNvPr>
          <p:cNvSpPr txBox="1"/>
          <p:nvPr/>
        </p:nvSpPr>
        <p:spPr>
          <a:xfrm>
            <a:off x="8256717" y="1376136"/>
            <a:ext cx="3274288" cy="24314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Windows opened from Main, Settings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.</a:t>
            </a:r>
            <a:r>
              <a:rPr lang="en-US" sz="800" noProof="1">
                <a:solidFill>
                  <a:schemeClr val="accent1"/>
                </a:solidFill>
              </a:rPr>
              <a:t> localState </a:t>
            </a:r>
            <a:r>
              <a:rPr lang="en-US" sz="800" noProof="1"/>
              <a:t>(transient info) :</a:t>
            </a:r>
            <a:br>
              <a:rPr lang="en-US" sz="800" noProof="1"/>
            </a:br>
            <a:r>
              <a:rPr lang="en-US" sz="800" noProof="1"/>
              <a:t> helpWindow, .settings, . fileListWindow, …</a:t>
            </a:r>
            <a:br>
              <a:rPr lang="en-US" sz="800" noProof="1"/>
            </a:br>
            <a:r>
              <a:rPr lang="en-US" sz="800" noProof="1"/>
              <a:t>(true if window is open, false if closed)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External windows are opened hidden, with option ’show: false’</a:t>
            </a:r>
            <a:br>
              <a:rPr lang="en-US" sz="800" noProof="1"/>
            </a:br>
            <a:r>
              <a:rPr lang="en-US" sz="800" noProof="1"/>
              <a:t>(to work around buggy multiple workspaces).  </a:t>
            </a:r>
            <a:br>
              <a:rPr lang="en-US" sz="800" noProof="1"/>
            </a:b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solidFill>
                  <a:schemeClr val="accent1"/>
                </a:solidFill>
              </a:rPr>
              <a:t>showWindow(win) </a:t>
            </a:r>
            <a:r>
              <a:rPr lang="en-US" sz="800" noProof="1"/>
              <a:t>is used to show hidden window.   </a:t>
            </a: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sz="800" noProof="1"/>
              <a:t>Called from 'loaded’ event, when opening new window using ‘nw.Window.open’.   </a:t>
            </a: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sz="800" noProof="1"/>
              <a:t>See two versions in ‘app.js’:</a:t>
            </a:r>
            <a:br>
              <a:rPr lang="en-US" sz="800" noProof="1"/>
            </a:br>
            <a:r>
              <a:rPr lang="en-US" sz="800" noProof="1"/>
              <a:t>- callback’, case statement 'clicked-notes’</a:t>
            </a:r>
            <a:br>
              <a:rPr lang="en-US" sz="800" noProof="1"/>
            </a:br>
            <a:r>
              <a:rPr lang="en-US" sz="800" noProof="1"/>
              <a:t>or</a:t>
            </a:r>
            <a:br>
              <a:rPr lang="en-US" sz="800" noProof="1"/>
            </a:br>
            <a:r>
              <a:rPr lang="en-US" sz="800" noProof="1"/>
              <a:t>- ‘showAbout’ function</a:t>
            </a:r>
          </a:p>
          <a:p>
            <a:pPr marL="355600" lvl="1" indent="-177800">
              <a:buFont typeface="Arial" panose="020B0604020202020204" pitchFamily="34" charset="0"/>
              <a:buChar char="•"/>
            </a:pPr>
            <a:r>
              <a:rPr lang="en-US" sz="800" noProof="1"/>
              <a:t>Two ways to handle multiple windows (MacOS and Linux behaves differently)</a:t>
            </a:r>
            <a:br>
              <a:rPr lang="en-US" sz="800" noProof="1"/>
            </a:br>
            <a:endParaRPr lang="en-US" sz="800" noProof="1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279F5223-2ED1-3322-DF84-D0ED0C8FE18E}"/>
              </a:ext>
            </a:extLst>
          </p:cNvPr>
          <p:cNvSpPr txBox="1"/>
          <p:nvPr/>
        </p:nvSpPr>
        <p:spPr>
          <a:xfrm>
            <a:off x="8173611" y="784352"/>
            <a:ext cx="3523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External Windows general</a:t>
            </a:r>
          </a:p>
        </p:txBody>
      </p:sp>
    </p:spTree>
    <p:extLst>
      <p:ext uri="{BB962C8B-B14F-4D97-AF65-F5344CB8AC3E}">
        <p14:creationId xmlns:p14="http://schemas.microsoft.com/office/powerpoint/2010/main" val="74831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83E1DA8D-DE72-7249-821E-88B0B328518E}"/>
              </a:ext>
            </a:extLst>
          </p:cNvPr>
          <p:cNvSpPr txBox="1"/>
          <p:nvPr/>
        </p:nvSpPr>
        <p:spPr>
          <a:xfrm>
            <a:off x="416902" y="122259"/>
            <a:ext cx="1170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noProof="1">
                <a:solidFill>
                  <a:schemeClr val="accent1"/>
                </a:solidFill>
              </a:rPr>
              <a:t>Dev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39AA015C-8BF8-B04E-A7BD-D1FFFF1FCC82}"/>
              </a:ext>
            </a:extLst>
          </p:cNvPr>
          <p:cNvSpPr txBox="1"/>
          <p:nvPr/>
        </p:nvSpPr>
        <p:spPr>
          <a:xfrm>
            <a:off x="401904" y="1545040"/>
            <a:ext cx="3274288" cy="41549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Debug flags can be set from settings.json: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debug = true </a:t>
            </a:r>
            <a:r>
              <a:rPr lang="en-US" sz="800" noProof="1"/>
              <a:t>(git debug env variables in main)</a:t>
            </a:r>
            <a:br>
              <a:rPr lang="en-US" sz="800" noProof="1"/>
            </a:b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graph.debug = true </a:t>
            </a:r>
            <a:r>
              <a:rPr lang="en-US" sz="800" noProof="1"/>
              <a:t>(graph layout debug info)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r>
              <a:rPr lang="en-US" sz="800" b="1" noProof="1"/>
              <a:t>Debug console, press F12 (if nwjs SDK version)</a:t>
            </a:r>
          </a:p>
          <a:p>
            <a:endParaRPr lang="en-US" sz="800" b="1" noProof="1"/>
          </a:p>
          <a:p>
            <a:r>
              <a:rPr lang="en-US" sz="800" b="1" noProof="1"/>
              <a:t>Chrome  remote debug (useful if gui doesn’t open)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Start with flag:</a:t>
            </a:r>
            <a:b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/Applications/nwjs.app/Contents/MacOS/nwjs  --remote-debugging-port=9222 .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Or start from folder containing ‘package.json’:</a:t>
            </a:r>
            <a:b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npm start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Chrome browser:</a:t>
            </a:r>
            <a:br>
              <a:rPr lang="en-US" sz="800" noProof="1"/>
            </a:b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chrome://inspect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b="1" noProof="1"/>
          </a:p>
          <a:p>
            <a:r>
              <a:rPr lang="en-US" sz="800" b="1" noProof="1"/>
              <a:t>Break debug on condition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Conditional break point : </a:t>
            </a:r>
            <a:br>
              <a:rPr lang="en-US" sz="800" noProof="1"/>
            </a:br>
            <a:r>
              <a:rPr lang="en-US" sz="800" noProof="1"/>
              <a:t>make break point</a:t>
            </a:r>
            <a:br>
              <a:rPr lang="en-US" sz="800" noProof="1"/>
            </a:br>
            <a:r>
              <a:rPr lang="en-US" sz="800" noProof="1"/>
              <a:t>right-click and make condition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For graph, conditional break point:  </a:t>
            </a: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stop(commit)</a:t>
            </a:r>
            <a:br>
              <a:rPr lang="en-US" sz="800" noProof="1"/>
            </a:br>
            <a:r>
              <a:rPr lang="en-US" sz="800" noProof="1"/>
              <a:t>stops on marked commit in graph window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r>
              <a:rPr lang="en-US" sz="800" b="1" noProof="1"/>
              <a:t>Reload window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typically from debug console: </a:t>
            </a: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injectIntoJs(document)</a:t>
            </a:r>
            <a:br>
              <a:rPr lang="en-US" sz="800" noProof="1"/>
            </a:br>
            <a:r>
              <a:rPr lang="en-US" sz="800" noProof="1"/>
              <a:t>(or similar command, use function starting on load)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r>
              <a:rPr lang="en-US" sz="800" b="1" noProof="1"/>
              <a:t>Console.log to main dev console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Define global.log function in app.js, which logs from everywhere to main dev console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global.log(‘message’)</a:t>
            </a:r>
            <a:endParaRPr lang="en-US" sz="800" noProof="1"/>
          </a:p>
          <a:p>
            <a:br>
              <a:rPr lang="en-US" sz="800" noProof="1"/>
            </a:br>
            <a:endParaRPr lang="en-US" sz="800" noProof="1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EB22BA33-1BE2-9C4E-857E-F8FF1526BB6F}"/>
              </a:ext>
            </a:extLst>
          </p:cNvPr>
          <p:cNvSpPr txBox="1"/>
          <p:nvPr/>
        </p:nvSpPr>
        <p:spPr>
          <a:xfrm>
            <a:off x="318798" y="953256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DEBUG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3904C800-EE25-4742-BFE5-CD6F10B48921}"/>
              </a:ext>
            </a:extLst>
          </p:cNvPr>
          <p:cNvSpPr txBox="1"/>
          <p:nvPr/>
        </p:nvSpPr>
        <p:spPr>
          <a:xfrm>
            <a:off x="4192240" y="1545040"/>
            <a:ext cx="3274288" cy="21852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Logging to file  ‘.Pragma-git/.tmp/pragma-git-log.txt’</a:t>
            </a:r>
          </a:p>
          <a:p>
            <a:endParaRPr lang="en-US" sz="800" b="1" noProof="1"/>
          </a:p>
          <a:p>
            <a:r>
              <a:rPr lang="en-US" sz="800" b="1" noProof="1"/>
              <a:t>Logging messages 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‘pragmaLog(message)’ command writes directly to file</a:t>
            </a:r>
            <a:br>
              <a:rPr lang="en-US" sz="800" b="1" noProof="1"/>
            </a:br>
            <a:r>
              <a:rPr lang="en-US" sz="800" noProof="1"/>
              <a:t>auto-removes credentials in URL</a:t>
            </a:r>
            <a:br>
              <a:rPr lang="en-US" sz="800" noProof="1"/>
            </a:br>
            <a:r>
              <a:rPr lang="en-US" sz="800" noProof="1"/>
              <a:t>adds time stamp</a:t>
            </a:r>
            <a:br>
              <a:rPr lang="en-US" sz="800" noProof="1"/>
            </a:br>
            <a:endParaRPr lang="en-US" sz="800" b="1" noProof="1"/>
          </a:p>
          <a:p>
            <a:r>
              <a:rPr lang="en-US" sz="800" b="1" noProof="1"/>
              <a:t>simpleGitLog(pwd)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Drop-in replacement for simpleGit</a:t>
            </a:r>
            <a:br>
              <a:rPr lang="en-US" sz="800" b="1" noProof="1"/>
            </a:br>
            <a:r>
              <a:rPr lang="en-US" sz="800" noProof="1"/>
              <a:t>takes one argument (I always populate it as the path to the git repo)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Uses function ‘sendGitOutputToFile’ to write git command, stdout, stderr. Function pragmaLog is used to print to log file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All logging commands are defined in app.js.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Can be called from children to app.js by using ‘opener.pragmaLog’ or  ‘opener. simpleGitLog’</a:t>
            </a:r>
            <a:br>
              <a:rPr lang="en-US" sz="800" noProof="1"/>
            </a:br>
            <a:endParaRPr lang="en-US" sz="800" noProof="1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7CCC12FE-9487-E148-A422-EE7A0D65A7FC}"/>
              </a:ext>
            </a:extLst>
          </p:cNvPr>
          <p:cNvSpPr txBox="1"/>
          <p:nvPr/>
        </p:nvSpPr>
        <p:spPr>
          <a:xfrm>
            <a:off x="4109134" y="953256"/>
            <a:ext cx="1160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Logging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9B6E5385-1392-2740-82C6-EEFAE9D008B9}"/>
              </a:ext>
            </a:extLst>
          </p:cNvPr>
          <p:cNvSpPr txBox="1"/>
          <p:nvPr/>
        </p:nvSpPr>
        <p:spPr>
          <a:xfrm>
            <a:off x="422126" y="7212463"/>
            <a:ext cx="3274288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Windows debug to console</a:t>
            </a:r>
            <a:br>
              <a:rPr lang="en-US" sz="800" b="1" noProof="1"/>
            </a:br>
            <a:endParaRPr lang="en-US" sz="800" b="1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>
                <a:hlinkClick r:id="rId2"/>
              </a:rPr>
              <a:t>https://github.com/nwutils/nwdc</a:t>
            </a: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800" noProof="1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Use flag when running </a:t>
            </a:r>
            <a:br>
              <a:rPr lang="en-US" sz="800" noProof="1"/>
            </a:b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nw.exe :   --remote-debugging-port=9222</a:t>
            </a:r>
            <a:br>
              <a:rPr lang="en-US" sz="800" noProof="1"/>
            </a:br>
            <a:r>
              <a:rPr lang="en-US" sz="800" noProof="1"/>
              <a:t>can then open with Chrome browser:</a:t>
            </a:r>
            <a:br>
              <a:rPr lang="en-US" sz="800" noProof="1"/>
            </a:b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chrome://inspect</a:t>
            </a:r>
            <a:endParaRPr lang="en-US" sz="800" noProof="1"/>
          </a:p>
          <a:p>
            <a:br>
              <a:rPr lang="en-US" sz="800" noProof="1"/>
            </a:br>
            <a:endParaRPr lang="en-US" sz="800" noProof="1"/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0768BF3C-2934-9848-8D68-0FE5F5153E26}"/>
              </a:ext>
            </a:extLst>
          </p:cNvPr>
          <p:cNvSpPr txBox="1"/>
          <p:nvPr/>
        </p:nvSpPr>
        <p:spPr>
          <a:xfrm>
            <a:off x="401904" y="6566132"/>
            <a:ext cx="2658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Windows 10 Debug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2B268A20-6D98-4442-89B2-9093279232D8}"/>
              </a:ext>
            </a:extLst>
          </p:cNvPr>
          <p:cNvSpPr txBox="1"/>
          <p:nvPr/>
        </p:nvSpPr>
        <p:spPr>
          <a:xfrm>
            <a:off x="4376199" y="7157916"/>
            <a:ext cx="3274288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b="1" noProof="1"/>
              <a:t>Allow download of pre-releases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If release is marked as prerelease in github </a:t>
            </a:r>
            <a:br>
              <a:rPr lang="en-US" sz="800" noProof="1"/>
            </a:br>
            <a:r>
              <a:rPr lang="en-US" sz="800" noProof="1"/>
              <a:t>=&gt;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800" noProof="1"/>
              <a:t>will only be updated if :</a:t>
            </a:r>
            <a:br>
              <a:rPr lang="en-US" sz="800" noProof="1"/>
            </a:br>
            <a:r>
              <a:rPr lang="en-US" sz="800" noProof="1"/>
              <a:t>‘settings.json’ contains  </a:t>
            </a:r>
            <a:br>
              <a:rPr lang="en-US" sz="800" noProof="1"/>
            </a:br>
            <a:r>
              <a:rPr lang="en-US" sz="800" noProof="1"/>
              <a:t>	</a:t>
            </a:r>
            <a:r>
              <a:rPr lang="en-US" sz="800" noProof="1">
                <a:latin typeface="Courier New" panose="02070309020205020404" pitchFamily="49" charset="0"/>
                <a:cs typeface="Courier New" panose="02070309020205020404" pitchFamily="49" charset="0"/>
              </a:rPr>
              <a:t>allowPrerelease = true</a:t>
            </a:r>
            <a:br>
              <a:rPr lang="en-US" sz="800" noProof="1"/>
            </a:br>
            <a:endParaRPr lang="en-US" sz="800" noProof="1"/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F2A811B7-0B91-3340-BDFF-F8E112007E01}"/>
              </a:ext>
            </a:extLst>
          </p:cNvPr>
          <p:cNvSpPr txBox="1"/>
          <p:nvPr/>
        </p:nvSpPr>
        <p:spPr>
          <a:xfrm>
            <a:off x="4293093" y="6566132"/>
            <a:ext cx="1626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noProof="1"/>
              <a:t>Pre-release</a:t>
            </a:r>
          </a:p>
        </p:txBody>
      </p:sp>
    </p:spTree>
    <p:extLst>
      <p:ext uri="{BB962C8B-B14F-4D97-AF65-F5344CB8AC3E}">
        <p14:creationId xmlns:p14="http://schemas.microsoft.com/office/powerpoint/2010/main" val="220908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32549</TotalTime>
  <Words>5594</Words>
  <Application>Microsoft Macintosh PowerPoint</Application>
  <PresentationFormat>A3 Paper (297x420 mm)</PresentationFormat>
  <Paragraphs>649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Office-tema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Jan Axelsson</dc:creator>
  <cp:lastModifiedBy>Jan E Axelsson</cp:lastModifiedBy>
  <cp:revision>296</cp:revision>
  <dcterms:created xsi:type="dcterms:W3CDTF">2020-06-24T14:21:06Z</dcterms:created>
  <dcterms:modified xsi:type="dcterms:W3CDTF">2025-05-26T19:07:48Z</dcterms:modified>
</cp:coreProperties>
</file>