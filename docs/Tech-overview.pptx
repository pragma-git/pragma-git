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58" r:id="rId8"/>
    <p:sldId id="265" r:id="rId9"/>
    <p:sldId id="266" r:id="rId10"/>
    <p:sldId id="264" r:id="rId11"/>
    <p:sldId id="263" r:id="rId12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71"/>
    <p:restoredTop sz="96339"/>
  </p:normalViewPr>
  <p:slideViewPr>
    <p:cSldViewPr snapToGrid="0" snapToObjects="1">
      <p:cViewPr>
        <p:scale>
          <a:sx n="136" d="100"/>
          <a:sy n="136" d="100"/>
        </p:scale>
        <p:origin x="144" y="1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2025-10-07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SSH-folder-documentation.xlsx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389841" y="1624870"/>
            <a:ext cx="5567899" cy="723274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FD0AC-6E4A-CC2F-94D7-8A5B3A905EBB}"/>
              </a:ext>
            </a:extLst>
          </p:cNvPr>
          <p:cNvSpPr/>
          <p:nvPr/>
        </p:nvSpPr>
        <p:spPr>
          <a:xfrm>
            <a:off x="2449600" y="1851628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247616" y="1620797"/>
            <a:ext cx="5875253" cy="656166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endParaRPr lang="en-US" sz="800" b="1" noProof="1"/>
          </a:p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GUI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395063" y="1620797"/>
            <a:ext cx="2054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389841" y="8921347"/>
            <a:ext cx="55678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247615" y="1620796"/>
            <a:ext cx="2232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</a:t>
            </a: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247615" y="8264309"/>
            <a:ext cx="587525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166D7-6A0E-7F5A-7A4B-123E544F7934}"/>
              </a:ext>
            </a:extLst>
          </p:cNvPr>
          <p:cNvSpPr txBox="1"/>
          <p:nvPr/>
        </p:nvSpPr>
        <p:spPr>
          <a:xfrm>
            <a:off x="334652" y="840220"/>
            <a:ext cx="67825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The helpers are started by git itself.  It knows about them through the git config</a:t>
            </a:r>
            <a:br>
              <a:rPr lang="en-US" sz="1000" noProof="1"/>
            </a:br>
            <a:endParaRPr lang="en-US" sz="1000" noProof="1"/>
          </a:p>
          <a:p>
            <a:r>
              <a:rPr lang="en-US" sz="1000" noProof="1"/>
              <a:t>In the case of using ssh-git-client, the helpers are started by the git on server, while ssh-git-client transfers things to local for Pragma-git GUI to pick it up.  See slides about “Git over ssh”</a:t>
            </a:r>
            <a:endParaRPr 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77D03-7B19-1FBE-1E5D-7C9DDB8A3D79}"/>
              </a:ext>
            </a:extLst>
          </p:cNvPr>
          <p:cNvSpPr txBox="1"/>
          <p:nvPr/>
        </p:nvSpPr>
        <p:spPr>
          <a:xfrm>
            <a:off x="2465009" y="2190292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merge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pragma-merge</a:t>
            </a:r>
          </a:p>
          <a:p>
            <a:r>
              <a:rPr lang="en-US" sz="1000" dirty="0"/>
              <a:t>(creates pragma-merge-running)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9D8ED9-348C-B8C6-A243-D218A493BFD8}"/>
              </a:ext>
            </a:extLst>
          </p:cNvPr>
          <p:cNvSpPr txBox="1"/>
          <p:nvPr/>
        </p:nvSpPr>
        <p:spPr>
          <a:xfrm>
            <a:off x="4356312" y="247378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merge window</a:t>
            </a:r>
            <a:endParaRPr 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BF9B47-13F7-58E7-ADB5-9837A9E901A2}"/>
              </a:ext>
            </a:extLst>
          </p:cNvPr>
          <p:cNvSpPr txBox="1"/>
          <p:nvPr/>
        </p:nvSpPr>
        <p:spPr>
          <a:xfrm>
            <a:off x="4356312" y="2942437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merge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pragma-merge-running)</a:t>
            </a:r>
            <a:endParaRPr 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7685FC-D130-5792-CAF1-EEB23E98E37B}"/>
              </a:ext>
            </a:extLst>
          </p:cNvPr>
          <p:cNvSpPr txBox="1"/>
          <p:nvPr/>
        </p:nvSpPr>
        <p:spPr>
          <a:xfrm>
            <a:off x="3755005" y="1936322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pragma-merge-running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D2D339-8E33-7FBF-03BF-35AAC79B156E}"/>
              </a:ext>
            </a:extLst>
          </p:cNvPr>
          <p:cNvSpPr txBox="1"/>
          <p:nvPr/>
        </p:nvSpPr>
        <p:spPr>
          <a:xfrm>
            <a:off x="2465009" y="2980021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 script returns exit code to git</a:t>
            </a:r>
            <a:endParaRPr lang="en-US" sz="10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38906A-B6E8-103E-E689-1C4A49EBDE5D}"/>
              </a:ext>
            </a:extLst>
          </p:cNvPr>
          <p:cNvCxnSpPr>
            <a:cxnSpLocks/>
          </p:cNvCxnSpPr>
          <p:nvPr/>
        </p:nvCxnSpPr>
        <p:spPr>
          <a:xfrm flipH="1">
            <a:off x="3992315" y="2474802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E233CD-6720-FE70-7E45-9B473038CBD5}"/>
              </a:ext>
            </a:extLst>
          </p:cNvPr>
          <p:cNvCxnSpPr/>
          <p:nvPr/>
        </p:nvCxnSpPr>
        <p:spPr>
          <a:xfrm>
            <a:off x="3715058" y="2473781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60C3D28-D419-9C06-D19C-DB603B4D9438}"/>
              </a:ext>
            </a:extLst>
          </p:cNvPr>
          <p:cNvCxnSpPr/>
          <p:nvPr/>
        </p:nvCxnSpPr>
        <p:spPr>
          <a:xfrm>
            <a:off x="4085142" y="2590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CD3E3AA-5E0D-0A11-6B0A-753DC6BA24C8}"/>
              </a:ext>
            </a:extLst>
          </p:cNvPr>
          <p:cNvCxnSpPr>
            <a:cxnSpLocks/>
          </p:cNvCxnSpPr>
          <p:nvPr/>
        </p:nvCxnSpPr>
        <p:spPr>
          <a:xfrm flipH="1">
            <a:off x="3755005" y="3164195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BF5415-BCE8-43A1-CE3E-360C8E50A716}"/>
              </a:ext>
            </a:extLst>
          </p:cNvPr>
          <p:cNvCxnSpPr>
            <a:cxnSpLocks/>
          </p:cNvCxnSpPr>
          <p:nvPr/>
        </p:nvCxnSpPr>
        <p:spPr>
          <a:xfrm flipH="1">
            <a:off x="4124418" y="307403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1BE05AE-2BC5-5E96-C434-691C1C5B3241}"/>
              </a:ext>
            </a:extLst>
          </p:cNvPr>
          <p:cNvSpPr txBox="1"/>
          <p:nvPr/>
        </p:nvSpPr>
        <p:spPr>
          <a:xfrm>
            <a:off x="8623470" y="2101506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starts askpass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-&gt; runs pragma-askpass</a:t>
            </a:r>
          </a:p>
          <a:p>
            <a:r>
              <a:rPr lang="en-US" sz="1000" dirty="0"/>
              <a:t>(creates pragma-</a:t>
            </a:r>
            <a:r>
              <a:rPr lang="en-US" sz="1000" dirty="0" err="1"/>
              <a:t>askpass</a:t>
            </a:r>
            <a:r>
              <a:rPr lang="en-US" sz="1000" dirty="0"/>
              <a:t>-running)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FEB3CD-054C-9C71-6174-AFC07E4DABBA}"/>
              </a:ext>
            </a:extLst>
          </p:cNvPr>
          <p:cNvSpPr txBox="1"/>
          <p:nvPr/>
        </p:nvSpPr>
        <p:spPr>
          <a:xfrm>
            <a:off x="10514773" y="2384995"/>
            <a:ext cx="1527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Pragma-git GUI opens askpass window</a:t>
            </a:r>
            <a:endParaRPr 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D1E035-4EDD-D323-0357-9558E039E3D5}"/>
              </a:ext>
            </a:extLst>
          </p:cNvPr>
          <p:cNvSpPr txBox="1"/>
          <p:nvPr/>
        </p:nvSpPr>
        <p:spPr>
          <a:xfrm>
            <a:off x="10514773" y="2853651"/>
            <a:ext cx="15273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close askpass window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/>
              <a:t>(delete pragma-askpass-running)</a:t>
            </a:r>
            <a:endParaRPr 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8E956F-88D5-1DC2-D2CA-FFFB625DB841}"/>
              </a:ext>
            </a:extLst>
          </p:cNvPr>
          <p:cNvSpPr txBox="1"/>
          <p:nvPr/>
        </p:nvSpPr>
        <p:spPr>
          <a:xfrm>
            <a:off x="9913466" y="1847536"/>
            <a:ext cx="15210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pragma-askpass-running</a:t>
            </a:r>
            <a:br>
              <a:rPr lang="en-US" sz="1000" noProof="1"/>
            </a:br>
            <a:r>
              <a:rPr lang="en-US" sz="1000" noProof="1"/>
              <a:t>signal file exists</a:t>
            </a:r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3B649B-7B85-F930-93AC-06C2DFAF6B86}"/>
              </a:ext>
            </a:extLst>
          </p:cNvPr>
          <p:cNvSpPr txBox="1"/>
          <p:nvPr/>
        </p:nvSpPr>
        <p:spPr>
          <a:xfrm>
            <a:off x="8623470" y="2891235"/>
            <a:ext cx="152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pragma-askpass script returns exit code and user/password text to git</a:t>
            </a:r>
            <a:endParaRPr lang="en-US" sz="1000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72B5D85-FF60-C79F-ACAB-379CE20FAEEF}"/>
              </a:ext>
            </a:extLst>
          </p:cNvPr>
          <p:cNvCxnSpPr>
            <a:cxnSpLocks/>
          </p:cNvCxnSpPr>
          <p:nvPr/>
        </p:nvCxnSpPr>
        <p:spPr>
          <a:xfrm flipH="1">
            <a:off x="10150776" y="2386016"/>
            <a:ext cx="1573" cy="590745"/>
          </a:xfrm>
          <a:prstGeom prst="line">
            <a:avLst/>
          </a:prstGeom>
          <a:ln cap="flat">
            <a:solidFill>
              <a:schemeClr val="tx1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9587865-8500-EC99-A016-199FEDF1C2F3}"/>
              </a:ext>
            </a:extLst>
          </p:cNvPr>
          <p:cNvCxnSpPr/>
          <p:nvPr/>
        </p:nvCxnSpPr>
        <p:spPr>
          <a:xfrm>
            <a:off x="9873519" y="2384995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7E26D0-96DA-8CFB-5311-F40C923E5A06}"/>
              </a:ext>
            </a:extLst>
          </p:cNvPr>
          <p:cNvCxnSpPr/>
          <p:nvPr/>
        </p:nvCxnSpPr>
        <p:spPr>
          <a:xfrm>
            <a:off x="10243603" y="2502209"/>
            <a:ext cx="2096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B96D955-E9CB-A942-54F4-649311AF54BA}"/>
              </a:ext>
            </a:extLst>
          </p:cNvPr>
          <p:cNvCxnSpPr>
            <a:cxnSpLocks/>
          </p:cNvCxnSpPr>
          <p:nvPr/>
        </p:nvCxnSpPr>
        <p:spPr>
          <a:xfrm flipH="1">
            <a:off x="9913466" y="3075409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867BB98-E827-21C2-99C7-7EE98D993D83}"/>
              </a:ext>
            </a:extLst>
          </p:cNvPr>
          <p:cNvCxnSpPr>
            <a:cxnSpLocks/>
          </p:cNvCxnSpPr>
          <p:nvPr/>
        </p:nvCxnSpPr>
        <p:spPr>
          <a:xfrm flipH="1">
            <a:off x="10282879" y="2985253"/>
            <a:ext cx="169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0E379860-F3B7-5279-7444-B835CA5E49AF}"/>
              </a:ext>
            </a:extLst>
          </p:cNvPr>
          <p:cNvSpPr/>
          <p:nvPr/>
        </p:nvSpPr>
        <p:spPr>
          <a:xfrm>
            <a:off x="8561388" y="1879400"/>
            <a:ext cx="3434018" cy="1644807"/>
          </a:xfrm>
          <a:prstGeom prst="rect">
            <a:avLst/>
          </a:prstGeom>
          <a:solidFill>
            <a:schemeClr val="accent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102885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1 (git 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6" y="1440853"/>
            <a:ext cx="5497880" cy="3908762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Copies config file </a:t>
            </a:r>
            <a:r>
              <a:rPr lang="en-US" sz="800" b="1" noProof="1"/>
              <a:t>pragma-git-config_linux_ssh </a:t>
            </a:r>
            <a:r>
              <a:rPr lang="en-US" sz="800" noProof="1"/>
              <a:t>to server file </a:t>
            </a:r>
            <a:r>
              <a:rPr lang="en-US" sz="800" b="1" noProof="1"/>
              <a:t>pragma-git-config-ssh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config defines pragma-merge command (adds extra argument ‘ssh’ at end)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 is not defined here, because $HOME cannot be expanded, </a:t>
            </a:r>
            <a:br>
              <a:rPr lang="en-US" sz="800" noProof="1"/>
            </a:br>
            <a:r>
              <a:rPr lang="en-US" sz="800" noProof="1"/>
              <a:t>and is therefore defined in ssh-git-client instead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two argument caryy the ssh URL to the repo on server (-c " SSHURL=… "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 (except –PIPED, see below)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example over ssh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./ssh-git-client -c "SSHURL=ssh://jan@localhost/Users/jan/Documents/Projects/Pragma-git/testRepos -- local on ssh/imlook4d_DEVELOP" version</a:t>
            </a: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-PIPED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Runs git over ssh, listening to stdin input (through the pipe)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echo xxxx | git … is called this way:</a:t>
            </a:r>
            <a:br>
              <a:rPr lang="en-US" sz="800" noProof="1"/>
            </a:br>
            <a:r>
              <a:rPr lang="en-US" sz="800" noProof="1"/>
              <a:t>echo xxxx | ssh-git-client -c "SSHURL=…" –PIPED … </a:t>
            </a:r>
            <a:br>
              <a:rPr lang="en-US" sz="800" noProof="1"/>
            </a:br>
            <a:r>
              <a:rPr lang="en-US" sz="800" noProof="1"/>
              <a:t>(thus hinting for ssh-git-client that it is expecting a piped input)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or askpass  </a:t>
            </a:r>
            <a:r>
              <a:rPr lang="en-US" sz="800" noProof="1"/>
              <a:t>from server are handled by transferring it from server to local, for pragma-git to handle guis., </a:t>
            </a:r>
            <a:br>
              <a:rPr lang="en-US" sz="800" noProof="1"/>
            </a:br>
            <a:r>
              <a:rPr lang="en-US" sz="800" noProof="1"/>
              <a:t>and then put results back on server</a:t>
            </a:r>
            <a:br>
              <a:rPr lang="en-US" sz="800" noProof="1"/>
            </a:br>
            <a:r>
              <a:rPr lang="en-US" sz="800" noProof="1"/>
              <a:t>(see ”ssh-git-client internally” to the right)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6451812" y="5334949"/>
            <a:ext cx="5019594" cy="280076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This describes how pragma-askpass over ssh connects with local pragma-askpass mechanism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has defined pragma-askpass command on server (which kicks in and works on signalling file on server (see list below)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transfer signalling files from server to local equivalients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makes local pragma-askpass run by normal mechanism, and generate signal files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ssh-git-client then picks up an copy back files to server signalling files</a:t>
            </a:r>
            <a:br>
              <a:rPr lang="en-US" sz="800" noProof="1"/>
            </a:br>
            <a:r>
              <a:rPr lang="en-US" sz="800" noProof="1"/>
              <a:t>which then server pragma-askpass handles with exit codes, and returned input</a:t>
            </a:r>
            <a:br>
              <a:rPr lang="en-US" sz="800" noProof="1"/>
            </a:br>
            <a:r>
              <a:rPr lang="en-US" sz="800" noProof="1"/>
              <a:t>(to git command input comes in exactly same way as if it had been run locally)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pragma-askpass </a:t>
            </a:r>
            <a:r>
              <a:rPr lang="en-US" sz="800" noProof="1"/>
              <a:t>– different signalling files  on the server, compared to local: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REMOTE_SIGNAL_FILE="$REMOTE_TMP/pragma-askpass-running-ssh"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REMOTE_PROMPT_FILE="$REMOTE_TMP/askpass_first-ssh"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REMOTE_EXIT="$REMOTE_TMP/exit-pragma-askpass-ssh"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REMOTE_EXITMESSAGEFILE="$REMOTE_TMP/exit-message-pragma-askpass-ssh"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LOCAL; pragma-askpass </a:t>
            </a:r>
            <a:r>
              <a:rPr lang="en-US" sz="800" noProof="1"/>
              <a:t>-  works as usual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LOCAL_EXIT="$TMP/exit-pragma-askpass"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LOCAL_PROMPT_FILE="$TMP/askpass_first"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LOCAL_EXITMESSAGEFILE="$TMP/exit-message-pragma-askpass"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336553" y="5622864"/>
            <a:ext cx="42514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both </a:t>
            </a:r>
            <a:br>
              <a:rPr lang="en-US" sz="2400" b="1" noProof="1"/>
            </a:br>
            <a:r>
              <a:rPr lang="en-US" sz="2400" b="1" noProof="1"/>
              <a:t>locally and on ssh 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D517F4-28AB-E486-0DB1-C8B56C3E504D}"/>
              </a:ext>
            </a:extLst>
          </p:cNvPr>
          <p:cNvSpPr txBox="1"/>
          <p:nvPr/>
        </p:nvSpPr>
        <p:spPr>
          <a:xfrm>
            <a:off x="498476" y="7779133"/>
            <a:ext cx="5442360" cy="70788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000" b="1" noProof="1"/>
              <a:t>Reading and Writing files </a:t>
            </a:r>
            <a:r>
              <a:rPr lang="en-US" sz="1000" noProof="1"/>
              <a:t>relative the server’s repo base, is done with additional scripts: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ssh-get  --  Used for edit-link in changed list, and for .gitignore tool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noProof="1"/>
              <a:t>ssh-put  --  Used to update server file after a file is modified in pragma-merge. Also for .gitignore tool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98476" y="6574807"/>
            <a:ext cx="5442360" cy="107721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</a:t>
            </a:r>
            <a:r>
              <a:rPr lang="en-US" sz="800" b="1" noProof="1"/>
              <a:t>both</a:t>
            </a:r>
            <a:r>
              <a:rPr lang="en-US" sz="800" noProof="1"/>
              <a:t>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9E8A15FB-FD02-38CF-FFEC-F946CA5098A8}"/>
              </a:ext>
            </a:extLst>
          </p:cNvPr>
          <p:cNvSpPr txBox="1"/>
          <p:nvPr/>
        </p:nvSpPr>
        <p:spPr>
          <a:xfrm>
            <a:off x="6424164" y="1456305"/>
            <a:ext cx="5497880" cy="3170099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ssh-git-client bash script – internal work flow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extra control arguments which git does not understand ( SSHURL=…, -PIPED)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Makes a string REMAINING_ARGUMENTS where each argument is quoted ( ‘ ). Quoting makes spaces in paths work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</a:t>
            </a:r>
            <a:r>
              <a:rPr lang="en-US" sz="800" b="1" noProof="1"/>
              <a:t>mergetool</a:t>
            </a:r>
            <a:r>
              <a:rPr lang="en-US" sz="800" noProof="1"/>
              <a:t> or </a:t>
            </a:r>
            <a:r>
              <a:rPr lang="en-US" sz="800" b="1" noProof="1"/>
              <a:t>difftool</a:t>
            </a:r>
            <a:r>
              <a:rPr lang="en-US" sz="800" noProof="1"/>
              <a:t>, run script  </a:t>
            </a:r>
            <a:r>
              <a:rPr lang="en-US" sz="800" b="1" noProof="1"/>
              <a:t>delayed-start-pragma-merge</a:t>
            </a:r>
            <a:r>
              <a:rPr lang="en-US" sz="800" noProof="1"/>
              <a:t> in background</a:t>
            </a:r>
            <a:br>
              <a:rPr lang="en-US" sz="800" noProof="1"/>
            </a:br>
            <a:r>
              <a:rPr lang="en-US" sz="800" noProof="1"/>
              <a:t> (see next powerpoint slide for details)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command by an ssh connection, on server</a:t>
            </a:r>
            <a:br>
              <a:rPr lang="en-US" sz="800" noProof="1"/>
            </a:br>
            <a:r>
              <a:rPr lang="en-US" sz="800" noProof="1"/>
              <a:t>(here pragma-askpass path is defined over ssh in variable GIT_ASKPASS, which git picks up)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second, wait for ssh command to finish pollig every 100 ms</a:t>
            </a:r>
            <a:br>
              <a:rPr lang="en-US" sz="800" noProof="1"/>
            </a:br>
            <a:r>
              <a:rPr lang="en-US" sz="800" noProof="1"/>
              <a:t>(no extra ssh connections made – this is the fast track)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ssh command has not finished, wait for it to finish (here polling over extra ssh connections are made)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In wait loop, poll for askpass request (since that could be reason for it not to finish)</a:t>
            </a:r>
            <a:br>
              <a:rPr lang="en-US" sz="800" noProof="1"/>
            </a:br>
            <a:r>
              <a:rPr lang="en-US" sz="800" noProof="1"/>
              <a:t>(detected by : REMOTE_SIGNAL_FILE="$REMOTE_TMP/pragma-askpass-running-ssh”)</a:t>
            </a:r>
            <a:br>
              <a:rPr lang="en-US" sz="800" noProof="1"/>
            </a:br>
            <a:r>
              <a:rPr lang="en-US" sz="800" noProof="1"/>
              <a:t>If askpass – handle dialog on client and return result to server</a:t>
            </a:r>
            <a:br>
              <a:rPr lang="en-US" sz="800" noProof="1"/>
            </a:br>
            <a:br>
              <a:rPr lang="en-US" sz="800" noProof="1"/>
            </a:br>
            <a:r>
              <a:rPr lang="en-US" sz="800" noProof="1"/>
              <a:t>Exit when git command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askpass, see “Pragma-askpass over ssh” below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2" name="textruta 5">
            <a:extLst>
              <a:ext uri="{FF2B5EF4-FFF2-40B4-BE49-F238E27FC236}">
                <a16:creationId xmlns:a16="http://schemas.microsoft.com/office/drawing/2014/main" id="{19C1CBC3-5D0E-E8C7-6A6B-001CA4E1BE70}"/>
              </a:ext>
            </a:extLst>
          </p:cNvPr>
          <p:cNvSpPr txBox="1"/>
          <p:nvPr/>
        </p:nvSpPr>
        <p:spPr>
          <a:xfrm>
            <a:off x="6314718" y="953255"/>
            <a:ext cx="31219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ssh-git-client internally</a:t>
            </a:r>
          </a:p>
        </p:txBody>
      </p:sp>
      <p:sp>
        <p:nvSpPr>
          <p:cNvPr id="14" name="textruta 5">
            <a:extLst>
              <a:ext uri="{FF2B5EF4-FFF2-40B4-BE49-F238E27FC236}">
                <a16:creationId xmlns:a16="http://schemas.microsoft.com/office/drawing/2014/main" id="{789CADAB-4BE0-AD44-EF55-AE46BCDD3E4B}"/>
              </a:ext>
            </a:extLst>
          </p:cNvPr>
          <p:cNvSpPr txBox="1"/>
          <p:nvPr/>
        </p:nvSpPr>
        <p:spPr>
          <a:xfrm>
            <a:off x="6314718" y="4800600"/>
            <a:ext cx="335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Pragma-askpass over ssh</a:t>
            </a:r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AAB76-ADD0-5DDF-838E-B5CF5CC2D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13">
            <a:extLst>
              <a:ext uri="{FF2B5EF4-FFF2-40B4-BE49-F238E27FC236}">
                <a16:creationId xmlns:a16="http://schemas.microsoft.com/office/drawing/2014/main" id="{828F37FB-65EB-DEBA-C4B9-854B5FFEAB90}"/>
              </a:ext>
            </a:extLst>
          </p:cNvPr>
          <p:cNvSpPr/>
          <p:nvPr/>
        </p:nvSpPr>
        <p:spPr>
          <a:xfrm>
            <a:off x="6026887" y="1974896"/>
            <a:ext cx="5608633" cy="486865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B50065A8-BFC4-44F6-BAAD-53D7E541D2BB}"/>
              </a:ext>
            </a:extLst>
          </p:cNvPr>
          <p:cNvSpPr txBox="1"/>
          <p:nvPr/>
        </p:nvSpPr>
        <p:spPr>
          <a:xfrm>
            <a:off x="416902" y="122259"/>
            <a:ext cx="118807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2 (pragma-merge over ssh server)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5A148EB5-2467-BF05-A2D1-92400A84E757}"/>
              </a:ext>
            </a:extLst>
          </p:cNvPr>
          <p:cNvSpPr txBox="1"/>
          <p:nvPr/>
        </p:nvSpPr>
        <p:spPr>
          <a:xfrm>
            <a:off x="606743" y="1976909"/>
            <a:ext cx="5019594" cy="5509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CA64B139-9C1F-6F05-86D2-EE0896DBEE63}"/>
              </a:ext>
            </a:extLst>
          </p:cNvPr>
          <p:cNvSpPr txBox="1"/>
          <p:nvPr/>
        </p:nvSpPr>
        <p:spPr>
          <a:xfrm>
            <a:off x="509524" y="1079740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28E703-C1B9-B7BB-D913-46D56A256E05}"/>
              </a:ext>
            </a:extLst>
          </p:cNvPr>
          <p:cNvCxnSpPr>
            <a:cxnSpLocks/>
          </p:cNvCxnSpPr>
          <p:nvPr/>
        </p:nvCxnSpPr>
        <p:spPr>
          <a:xfrm>
            <a:off x="8709508" y="1967636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8A3D56-0A9F-1124-1811-962C450D7841}"/>
              </a:ext>
            </a:extLst>
          </p:cNvPr>
          <p:cNvCxnSpPr>
            <a:cxnSpLocks/>
          </p:cNvCxnSpPr>
          <p:nvPr/>
        </p:nvCxnSpPr>
        <p:spPr>
          <a:xfrm>
            <a:off x="8654761" y="1983184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CF54B3A-548E-9C93-3587-A98A1DEF6456}"/>
              </a:ext>
            </a:extLst>
          </p:cNvPr>
          <p:cNvSpPr txBox="1"/>
          <p:nvPr/>
        </p:nvSpPr>
        <p:spPr>
          <a:xfrm>
            <a:off x="6865307" y="2022530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268410-0EE1-C6BB-A065-3DE5A1293125}"/>
              </a:ext>
            </a:extLst>
          </p:cNvPr>
          <p:cNvSpPr txBox="1"/>
          <p:nvPr/>
        </p:nvSpPr>
        <p:spPr>
          <a:xfrm>
            <a:off x="9417389" y="1991970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13F54-B532-348D-42B4-1CCCC328C71C}"/>
              </a:ext>
            </a:extLst>
          </p:cNvPr>
          <p:cNvSpPr txBox="1"/>
          <p:nvPr/>
        </p:nvSpPr>
        <p:spPr>
          <a:xfrm>
            <a:off x="6445246" y="2282435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2CB322-FF95-DC29-4F5C-E3CF7FDBC7C7}"/>
              </a:ext>
            </a:extLst>
          </p:cNvPr>
          <p:cNvSpPr txBox="1"/>
          <p:nvPr/>
        </p:nvSpPr>
        <p:spPr>
          <a:xfrm>
            <a:off x="6363309" y="5144153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1CC32D-4682-DDFA-08D8-F2BCB69E4AC2}"/>
              </a:ext>
            </a:extLst>
          </p:cNvPr>
          <p:cNvSpPr txBox="1"/>
          <p:nvPr/>
        </p:nvSpPr>
        <p:spPr>
          <a:xfrm>
            <a:off x="6497400" y="2800096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33DFB-C5F6-568D-D20A-6F3B394BF4DE}"/>
              </a:ext>
            </a:extLst>
          </p:cNvPr>
          <p:cNvSpPr txBox="1"/>
          <p:nvPr/>
        </p:nvSpPr>
        <p:spPr>
          <a:xfrm>
            <a:off x="6568026" y="3584536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163503-DDBD-5964-D3D3-8B65DAC8A4EC}"/>
              </a:ext>
            </a:extLst>
          </p:cNvPr>
          <p:cNvSpPr txBox="1"/>
          <p:nvPr/>
        </p:nvSpPr>
        <p:spPr>
          <a:xfrm>
            <a:off x="8777751" y="3186308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C3FEB6-6118-B8D0-2712-B50F1D8D00A6}"/>
              </a:ext>
            </a:extLst>
          </p:cNvPr>
          <p:cNvSpPr txBox="1"/>
          <p:nvPr/>
        </p:nvSpPr>
        <p:spPr>
          <a:xfrm>
            <a:off x="9110163" y="2668966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1F771B-B775-532F-F9CD-6D13341A1781}"/>
              </a:ext>
            </a:extLst>
          </p:cNvPr>
          <p:cNvSpPr txBox="1"/>
          <p:nvPr/>
        </p:nvSpPr>
        <p:spPr>
          <a:xfrm>
            <a:off x="6530235" y="4632463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0903B31-E932-61A5-A3D1-E1DB5CF7681A}"/>
              </a:ext>
            </a:extLst>
          </p:cNvPr>
          <p:cNvCxnSpPr>
            <a:cxnSpLocks/>
          </p:cNvCxnSpPr>
          <p:nvPr/>
        </p:nvCxnSpPr>
        <p:spPr>
          <a:xfrm>
            <a:off x="6865307" y="3136295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19CDB1A-EBE4-CE30-3404-1F0553AA9FF5}"/>
              </a:ext>
            </a:extLst>
          </p:cNvPr>
          <p:cNvSpPr txBox="1"/>
          <p:nvPr/>
        </p:nvSpPr>
        <p:spPr>
          <a:xfrm>
            <a:off x="9186409" y="3383968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46281E-85BC-5DF3-3988-A0AA51D3C13B}"/>
              </a:ext>
            </a:extLst>
          </p:cNvPr>
          <p:cNvSpPr txBox="1"/>
          <p:nvPr/>
        </p:nvSpPr>
        <p:spPr>
          <a:xfrm>
            <a:off x="9186409" y="3598056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E714552-0705-9D58-E461-2C8491339554}"/>
              </a:ext>
            </a:extLst>
          </p:cNvPr>
          <p:cNvCxnSpPr>
            <a:cxnSpLocks/>
          </p:cNvCxnSpPr>
          <p:nvPr/>
        </p:nvCxnSpPr>
        <p:spPr>
          <a:xfrm>
            <a:off x="6776306" y="3863880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87A9F6C-A406-5B6C-7E8B-C14BBD414588}"/>
              </a:ext>
            </a:extLst>
          </p:cNvPr>
          <p:cNvSpPr txBox="1"/>
          <p:nvPr/>
        </p:nvSpPr>
        <p:spPr>
          <a:xfrm>
            <a:off x="6789504" y="3803306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FC11A26-A596-7AA5-F09A-A330A6B90626}"/>
              </a:ext>
            </a:extLst>
          </p:cNvPr>
          <p:cNvSpPr txBox="1"/>
          <p:nvPr/>
        </p:nvSpPr>
        <p:spPr>
          <a:xfrm>
            <a:off x="8800012" y="2274000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C9DF0EB-7072-2AE7-0A82-38609AB984B1}"/>
              </a:ext>
            </a:extLst>
          </p:cNvPr>
          <p:cNvCxnSpPr>
            <a:cxnSpLocks/>
          </p:cNvCxnSpPr>
          <p:nvPr/>
        </p:nvCxnSpPr>
        <p:spPr>
          <a:xfrm>
            <a:off x="9019186" y="2508824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7ABB7199-27AA-B50A-E399-E00A5C5C6651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83522" y="2838015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80C1261-0D28-1BF3-BAA5-B1C76859F46A}"/>
              </a:ext>
            </a:extLst>
          </p:cNvPr>
          <p:cNvCxnSpPr>
            <a:cxnSpLocks/>
          </p:cNvCxnSpPr>
          <p:nvPr/>
        </p:nvCxnSpPr>
        <p:spPr>
          <a:xfrm flipH="1">
            <a:off x="7914731" y="3700310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24CA27A-760E-8DA7-0840-E63E0037A51C}"/>
              </a:ext>
            </a:extLst>
          </p:cNvPr>
          <p:cNvSpPr txBox="1"/>
          <p:nvPr/>
        </p:nvSpPr>
        <p:spPr>
          <a:xfrm>
            <a:off x="6795776" y="4791382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91B2F7-A006-F34E-63B2-68CEA2926A64}"/>
              </a:ext>
            </a:extLst>
          </p:cNvPr>
          <p:cNvSpPr txBox="1"/>
          <p:nvPr/>
        </p:nvSpPr>
        <p:spPr>
          <a:xfrm>
            <a:off x="8984699" y="5323672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7108608-4CE1-B717-5BEC-977A13BE96A9}"/>
              </a:ext>
            </a:extLst>
          </p:cNvPr>
          <p:cNvGrpSpPr/>
          <p:nvPr/>
        </p:nvGrpSpPr>
        <p:grpSpPr>
          <a:xfrm>
            <a:off x="9076327" y="5392008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975D3637-007B-1D52-C3A6-E25C2CC3CDC6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BBC0BA-C2AC-7722-472A-45CC8BC443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5102363E-26D3-1648-63E4-5ABCA27419C9}"/>
              </a:ext>
            </a:extLst>
          </p:cNvPr>
          <p:cNvCxnSpPr>
            <a:cxnSpLocks/>
          </p:cNvCxnSpPr>
          <p:nvPr/>
        </p:nvCxnSpPr>
        <p:spPr>
          <a:xfrm flipV="1">
            <a:off x="8045910" y="5438714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1F33587-B3A9-F929-E5B2-6BA115D4171C}"/>
              </a:ext>
            </a:extLst>
          </p:cNvPr>
          <p:cNvSpPr txBox="1"/>
          <p:nvPr/>
        </p:nvSpPr>
        <p:spPr>
          <a:xfrm>
            <a:off x="6789504" y="4180596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1581E4D-7F5D-13A7-45AB-17FA6D786F19}"/>
              </a:ext>
            </a:extLst>
          </p:cNvPr>
          <p:cNvCxnSpPr>
            <a:cxnSpLocks/>
          </p:cNvCxnSpPr>
          <p:nvPr/>
        </p:nvCxnSpPr>
        <p:spPr>
          <a:xfrm flipV="1">
            <a:off x="8183522" y="2410353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820FE45-C6B1-23E5-5D97-0973F4532EE2}"/>
              </a:ext>
            </a:extLst>
          </p:cNvPr>
          <p:cNvCxnSpPr>
            <a:cxnSpLocks/>
          </p:cNvCxnSpPr>
          <p:nvPr/>
        </p:nvCxnSpPr>
        <p:spPr>
          <a:xfrm>
            <a:off x="6517987" y="5937665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A75E41B-FC16-F680-B2A3-0AE1EDF53A57}"/>
              </a:ext>
            </a:extLst>
          </p:cNvPr>
          <p:cNvCxnSpPr>
            <a:cxnSpLocks/>
          </p:cNvCxnSpPr>
          <p:nvPr/>
        </p:nvCxnSpPr>
        <p:spPr>
          <a:xfrm>
            <a:off x="6530712" y="6090316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964D8B4C-C537-9A0A-117A-B5DAFA734A9A}"/>
              </a:ext>
            </a:extLst>
          </p:cNvPr>
          <p:cNvSpPr txBox="1"/>
          <p:nvPr/>
        </p:nvSpPr>
        <p:spPr>
          <a:xfrm>
            <a:off x="6734388" y="5809732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2A768C5-C01A-F7A0-9460-AB7B5E06D572}"/>
              </a:ext>
            </a:extLst>
          </p:cNvPr>
          <p:cNvSpPr txBox="1"/>
          <p:nvPr/>
        </p:nvSpPr>
        <p:spPr>
          <a:xfrm>
            <a:off x="10602102" y="2229497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B358EA0-578D-7F51-4C46-323472194A32}"/>
              </a:ext>
            </a:extLst>
          </p:cNvPr>
          <p:cNvSpPr txBox="1"/>
          <p:nvPr/>
        </p:nvSpPr>
        <p:spPr>
          <a:xfrm>
            <a:off x="8020081" y="2736799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B7F06132-3A6C-A784-7D8D-1B25F2E7253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445246" y="2409337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C731E75D-F2CE-AE85-7D31-3749E1BA2616}"/>
              </a:ext>
            </a:extLst>
          </p:cNvPr>
          <p:cNvSpPr txBox="1"/>
          <p:nvPr/>
        </p:nvSpPr>
        <p:spPr>
          <a:xfrm>
            <a:off x="6933550" y="3216875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01315884-FD97-7EEA-38CB-A655991C0B26}"/>
              </a:ext>
            </a:extLst>
          </p:cNvPr>
          <p:cNvSpPr/>
          <p:nvPr/>
        </p:nvSpPr>
        <p:spPr>
          <a:xfrm>
            <a:off x="10279270" y="2686587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521F35-2A7B-0A80-9DAA-A5DE8ED074BD}"/>
              </a:ext>
            </a:extLst>
          </p:cNvPr>
          <p:cNvSpPr txBox="1"/>
          <p:nvPr/>
        </p:nvSpPr>
        <p:spPr>
          <a:xfrm>
            <a:off x="561124" y="1597249"/>
            <a:ext cx="50195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BELOW IS DOCUMENTED IN  </a:t>
            </a:r>
            <a:r>
              <a:rPr lang="en-US" sz="1400" b="1" noProof="1">
                <a:hlinkClick r:id="rId2"/>
              </a:rPr>
              <a:t>SSH-folder-documentation.xlsx</a:t>
            </a:r>
            <a:endParaRPr lang="en-US" sz="1400" b="1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0204CE5-9065-1AB6-FECE-9B20F0E87078}"/>
              </a:ext>
            </a:extLst>
          </p:cNvPr>
          <p:cNvSpPr txBox="1"/>
          <p:nvPr/>
        </p:nvSpPr>
        <p:spPr>
          <a:xfrm>
            <a:off x="6082448" y="6369293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1552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  <p:sp>
        <p:nvSpPr>
          <p:cNvPr id="2" name="textruta 7">
            <a:extLst>
              <a:ext uri="{FF2B5EF4-FFF2-40B4-BE49-F238E27FC236}">
                <a16:creationId xmlns:a16="http://schemas.microsoft.com/office/drawing/2014/main" id="{BA4EEBAF-B070-ABA0-6841-81950B660846}"/>
              </a:ext>
            </a:extLst>
          </p:cNvPr>
          <p:cNvSpPr txBox="1"/>
          <p:nvPr/>
        </p:nvSpPr>
        <p:spPr>
          <a:xfrm>
            <a:off x="8057615" y="955246"/>
            <a:ext cx="2816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Change nwjs-version</a:t>
            </a:r>
          </a:p>
        </p:txBody>
      </p:sp>
      <p:sp>
        <p:nvSpPr>
          <p:cNvPr id="3" name="textruta 6">
            <a:extLst>
              <a:ext uri="{FF2B5EF4-FFF2-40B4-BE49-F238E27FC236}">
                <a16:creationId xmlns:a16="http://schemas.microsoft.com/office/drawing/2014/main" id="{DB43E805-6425-D6EA-8BA3-2E44D0EF7CBB}"/>
              </a:ext>
            </a:extLst>
          </p:cNvPr>
          <p:cNvSpPr txBox="1"/>
          <p:nvPr/>
        </p:nvSpPr>
        <p:spPr>
          <a:xfrm>
            <a:off x="8067140" y="1545040"/>
            <a:ext cx="3274288" cy="28007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Download</a:t>
            </a:r>
            <a:r>
              <a:rPr lang="en-US" sz="800" noProof="1"/>
              <a:t> new nwjs-version to /Apps/nwjs.app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Make runnable:</a:t>
            </a:r>
            <a:br>
              <a:rPr lang="en-US" sz="800" b="1" noProof="1"/>
            </a:br>
            <a:r>
              <a:rPr lang="en-US" sz="800" noProof="1"/>
              <a:t>sudo xattr -r -d com.apple.quarantine /Applications/nwjs.app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</a:t>
            </a:r>
            <a:r>
              <a:rPr lang="en-US" sz="800" noProof="1"/>
              <a:t> </a:t>
            </a:r>
            <a:r>
              <a:rPr lang="en-US" sz="800" b="1" noProof="1"/>
              <a:t>package.json </a:t>
            </a:r>
            <a:r>
              <a:rPr lang="en-US" sz="800" noProof="1"/>
              <a:t>to correct nwjs version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F12 when running pragma-git, then</a:t>
            </a:r>
            <a:br>
              <a:rPr lang="en-US" sz="800" noProof="1"/>
            </a:br>
            <a:r>
              <a:rPr lang="en-US" sz="800" noProof="1"/>
              <a:t>process.version  // gives node version (also Settings Info)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NODE  to same version as prcess.version. 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volta install node@VERSION  # for instance: “node@21.1.0”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Update npm versions in bash :</a:t>
            </a:r>
            <a:br>
              <a:rPr lang="en-US" sz="800" noProof="1"/>
            </a:br>
            <a:r>
              <a:rPr lang="en-US" sz="800" noProof="1"/>
              <a:t>cd /Users/jan/Documents/Projects/Pragma-git/pragma-git/</a:t>
            </a:r>
            <a:br>
              <a:rPr lang="en-US" sz="800" noProof="1"/>
            </a:br>
            <a:r>
              <a:rPr lang="en-US" sz="800" noProof="1"/>
              <a:t>npm update</a:t>
            </a:r>
          </a:p>
          <a:p>
            <a:pPr marL="228600" indent="-228600">
              <a:buFont typeface="+mj-lt"/>
              <a:buAutoNum type="arabicPeriod"/>
            </a:pPr>
            <a:endParaRPr lang="en-US" sz="800" noProof="1"/>
          </a:p>
          <a:p>
            <a:pPr marL="228600" indent="-228600">
              <a:buFont typeface="+mj-lt"/>
              <a:buAutoNum type="arabicPeriod"/>
            </a:pPr>
            <a:r>
              <a:rPr lang="en-US" sz="800" b="1" noProof="1"/>
              <a:t>Check what package versions are not updated .</a:t>
            </a:r>
            <a:r>
              <a:rPr lang="en-US" sz="800" noProof="1"/>
              <a:t> </a:t>
            </a:r>
            <a:r>
              <a:rPr lang="en-US" sz="800" b="1" noProof="1"/>
              <a:t>In bash:</a:t>
            </a:r>
            <a:br>
              <a:rPr lang="en-US" sz="800" b="1" noProof="1"/>
            </a:br>
            <a:r>
              <a:rPr lang="en-US" sz="800" noProof="1"/>
              <a:t>npm outdated</a:t>
            </a:r>
          </a:p>
          <a:p>
            <a:endParaRPr lang="en-US" sz="800" noProof="1"/>
          </a:p>
          <a:p>
            <a:r>
              <a:rPr lang="en-US" sz="800" b="1" noProof="1"/>
              <a:t>... keep working ...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68370</TotalTime>
  <Words>6646</Words>
  <Application>Microsoft Macintosh PowerPoint</Application>
  <PresentationFormat>A3 Paper (297x420 mm)</PresentationFormat>
  <Paragraphs>767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337</cp:revision>
  <dcterms:created xsi:type="dcterms:W3CDTF">2020-06-24T14:21:06Z</dcterms:created>
  <dcterms:modified xsi:type="dcterms:W3CDTF">2025-10-08T16:26:23Z</dcterms:modified>
</cp:coreProperties>
</file>